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40" d="100"/>
          <a:sy n="140" d="100"/>
        </p:scale>
        <p:origin x="-2368" y="-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44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31520" y="1965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STIMULATION INTENSITY FROM EEG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Time-domain &amp; frequency-domain decoding of EMS haptic-shock intensity,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 shrinkage-LDA pipeline against EEGNet.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7240" y="4297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subjects</a:t>
            </a: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channels</a:t>
            </a: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&amp; 4-class</a:t>
            </a: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+ within-subject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EEG was recorded &amp; prepared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81051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4871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channels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81635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 montage, central/fronto-central focus for the somatosensory response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55848" y="1554480"/>
            <a:ext cx="26974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55848" y="181051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 Hz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38728" y="24871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rate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84448" y="281635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Notch-filtered at 50 Hz; band-pass up to 100 Hz on the raw recording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63056" y="1554480"/>
            <a:ext cx="26974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63056" y="181051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 Hz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45936" y="24871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91656" y="281635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Anti-aliased decimation by 4 (FIR low-pass) before feature extraction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70264" y="1554480"/>
            <a:ext cx="26974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70264" y="181051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53144" y="24871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/ subject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98864" y="281635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Stimulus-locked trials, balanced across intensity conditions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&amp; epoching pipeline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68680" y="4709160"/>
            <a:ext cx="1783080" cy="979121"/>
          </a:xfrm>
          <a:prstGeom prst="roundRect">
            <a:avLst>
              <a:gd name="adj" fmla="val 444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4892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EEG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1456" y="5130141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Hz · notch 50 · BP 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24328" y="49377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3008376" y="4709160"/>
            <a:ext cx="1783080" cy="979121"/>
          </a:xfrm>
          <a:prstGeom prst="roundRect">
            <a:avLst>
              <a:gd name="adj" fmla="val 444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054096" y="4892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Downsample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÷4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21152" y="5130141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250 Hz, anti-aliased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64024" y="49377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5148072" y="4709160"/>
            <a:ext cx="1783080" cy="979121"/>
          </a:xfrm>
          <a:prstGeom prst="roundRect">
            <a:avLst>
              <a:gd name="adj" fmla="val 444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93792" y="4892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60848" y="5130141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stimulus-locked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03720" y="49377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7287768" y="4709160"/>
            <a:ext cx="1783080" cy="979121"/>
          </a:xfrm>
          <a:prstGeom prst="roundRect">
            <a:avLst>
              <a:gd name="adj" fmla="val 444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33488" y="4892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window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00544" y="5130141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 → +1.5 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043416" y="49377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9427464" y="4709160"/>
            <a:ext cx="1783080" cy="979121"/>
          </a:xfrm>
          <a:prstGeom prst="roundRect">
            <a:avLst>
              <a:gd name="adj" fmla="val 444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473184" y="4892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scheme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40240" y="5130141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/ 4-class</a:t>
            </a:r>
            <a:endParaRPr lang="en-US" sz="90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A27D66E4-6F94-283D-DD42-91A906A21BBE}"/>
              </a:ext>
            </a:extLst>
          </p:cNvPr>
          <p:cNvSpPr/>
          <p:nvPr/>
        </p:nvSpPr>
        <p:spPr>
          <a:xfrm>
            <a:off x="86868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**Note: 31 subjects were recorded, but subjects 10 and 24 have been removed from training sets.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1: </a:t>
            </a: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EEGNet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3337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convolutional network learning its own filters from raw EEG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EEGNET · 3-CLASS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Network, setup, and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1148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27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(EEGNet-8,2)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299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68880" y="2029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ch × T samples ×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3362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conv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68880" y="23362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8 filters, kernel 500 ms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6426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conv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68880" y="26426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2 (spatial, per-channel)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9489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Separable conv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68880" y="29489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= 16 filters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25526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68880" y="32552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avg-pool ×4 then ×8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35615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68880" y="35615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(cross) / 0.50 (within)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38679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468880" y="38679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→ softmax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370831"/>
            <a:ext cx="4114800" cy="2103121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5171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setup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9194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14600" y="49194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lr 1e-3, batch 32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5193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14600" y="51937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500, early-stop pat. 50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5468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14600" y="54681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 on plateau (pat. 20)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57424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14600" y="57424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6016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/ seed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14600" y="60167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z-score · 42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2040" y="1463040"/>
            <a:ext cx="32004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3" name="Image 0" descr="assets/eeg_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54480"/>
            <a:ext cx="3017520" cy="214884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8321040" y="1463040"/>
            <a:ext cx="3291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5" name="Image 1" descr="assets/eeg_conf_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517904"/>
            <a:ext cx="3108960" cy="2212848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4892040" y="3977640"/>
            <a:ext cx="6720840" cy="2496312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5120640" y="4114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reading</a:t>
            </a:r>
            <a:endParaRPr lang="en-US" sz="1500" dirty="0"/>
          </a:p>
        </p:txBody>
      </p:sp>
      <p:sp>
        <p:nvSpPr>
          <p:cNvPr id="38" name="Text 34"/>
          <p:cNvSpPr/>
          <p:nvPr/>
        </p:nvSpPr>
        <p:spPr>
          <a:xfrm>
            <a:off x="5074920" y="45262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63.4%</a:t>
            </a:r>
            <a:endParaRPr lang="en-US" sz="3400" dirty="0"/>
          </a:p>
        </p:txBody>
      </p:sp>
      <p:sp>
        <p:nvSpPr>
          <p:cNvPr id="39" name="Text 35"/>
          <p:cNvSpPr/>
          <p:nvPr/>
        </p:nvSpPr>
        <p:spPr>
          <a:xfrm>
            <a:off x="5074920" y="5074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within-subject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6720840" y="45262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59.8%</a:t>
            </a:r>
            <a:endParaRPr lang="en-US" sz="3400" dirty="0"/>
          </a:p>
        </p:txBody>
      </p:sp>
      <p:sp>
        <p:nvSpPr>
          <p:cNvPr id="41" name="Text 37"/>
          <p:cNvSpPr/>
          <p:nvPr/>
        </p:nvSpPr>
        <p:spPr>
          <a:xfrm>
            <a:off x="6720840" y="5074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8366760" y="45262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1.79×</a:t>
            </a:r>
            <a:endParaRPr lang="en-US" sz="3400" dirty="0"/>
          </a:p>
        </p:txBody>
      </p:sp>
      <p:sp>
        <p:nvSpPr>
          <p:cNvPr id="43" name="Text 39"/>
          <p:cNvSpPr/>
          <p:nvPr/>
        </p:nvSpPr>
        <p:spPr>
          <a:xfrm>
            <a:off x="8366760" y="5074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chance (33%)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10058400" y="452628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no-stim best separated (71% recall);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intermediate (min+medium merged) class is the hardest, bleeding into no-stim. LOSO ≈ within shows the model generalizes across subjects but plateaus at the same place the LDA does.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EEGNET · 4-CLASS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Network, setup, and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1148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27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(EEGNet-8,2)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299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68880" y="2029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ch × T samples ×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3362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conv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68880" y="23362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8 filters, kernel 500 ms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6426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conv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68880" y="26426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2 (spatial, per-channel)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9489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Separable conv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68880" y="29489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= 16 filters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25526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68880" y="32552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avg-pool ×4 then ×8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35615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68880" y="35615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(cross) / 0.50 (within)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38679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468880" y="38679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→ softmax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370832"/>
            <a:ext cx="411480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5171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setup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9194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14600" y="49194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lr 1e-3, batch 32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5193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14600" y="51937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500, early-stop pat. 50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5468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14600" y="54681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 on plateau (pat. 20)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57424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14600" y="57424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6016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/ seed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14600" y="60167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z-score · 42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2040" y="1463040"/>
            <a:ext cx="32004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3" name="Image 0" descr="assets/eeg_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54480"/>
            <a:ext cx="3017520" cy="214884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8321040" y="1463040"/>
            <a:ext cx="3291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5" name="Image 1" descr="assets/eeg_conf_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517904"/>
            <a:ext cx="3108960" cy="2212848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4892040" y="3977640"/>
            <a:ext cx="6720840" cy="2496312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5120640" y="4114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reading</a:t>
            </a:r>
            <a:endParaRPr lang="en-US" sz="1500" dirty="0"/>
          </a:p>
        </p:txBody>
      </p:sp>
      <p:sp>
        <p:nvSpPr>
          <p:cNvPr id="38" name="Text 34"/>
          <p:cNvSpPr/>
          <p:nvPr/>
        </p:nvSpPr>
        <p:spPr>
          <a:xfrm>
            <a:off x="5074920" y="45262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53.0%</a:t>
            </a:r>
            <a:endParaRPr lang="en-US" sz="3400" dirty="0"/>
          </a:p>
        </p:txBody>
      </p:sp>
      <p:sp>
        <p:nvSpPr>
          <p:cNvPr id="39" name="Text 35"/>
          <p:cNvSpPr/>
          <p:nvPr/>
        </p:nvSpPr>
        <p:spPr>
          <a:xfrm>
            <a:off x="5074920" y="5074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within-subject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6720840" y="45262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49.7%</a:t>
            </a:r>
            <a:endParaRPr lang="en-US" sz="3400" dirty="0"/>
          </a:p>
        </p:txBody>
      </p:sp>
      <p:sp>
        <p:nvSpPr>
          <p:cNvPr id="41" name="Text 37"/>
          <p:cNvSpPr/>
          <p:nvPr/>
        </p:nvSpPr>
        <p:spPr>
          <a:xfrm>
            <a:off x="6720840" y="5074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8366760" y="45262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1.99×</a:t>
            </a:r>
            <a:endParaRPr lang="en-US" sz="3400" dirty="0"/>
          </a:p>
        </p:txBody>
      </p:sp>
      <p:sp>
        <p:nvSpPr>
          <p:cNvPr id="43" name="Text 39"/>
          <p:cNvSpPr/>
          <p:nvPr/>
        </p:nvSpPr>
        <p:spPr>
          <a:xfrm>
            <a:off x="8366760" y="5074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chance (25%)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10058400" y="452628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↔ medium collapse.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is 41% (min) and 34% (medium) — the two adjacent low-intensity classes look alike in EEG. no-stim (68%) and max (55%) stay best separated.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2: Shrinkage LDA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3337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Hand-built ERP &amp; band-power features → linear discriminant analysis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· 3-CLASS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Features, pipeline, and per-model performance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48640" y="4370832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44988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pipeline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864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shrinkage-LDA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528523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Leakage-safe: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extractors use no labels; scaler &amp; LDA fit inside each fold. LOSO adds per-subject z-scoring. Artifact filter drops high baseline-SD trials.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1463040"/>
            <a:ext cx="68122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0" descr="assets/lda_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920240"/>
            <a:ext cx="3703320" cy="2148840"/>
          </a:xfrm>
          <a:prstGeom prst="rect">
            <a:avLst/>
          </a:prstGeom>
        </p:spPr>
      </p:pic>
      <p:pic>
        <p:nvPicPr>
          <p:cNvPr id="18" name="Image 1" descr="assets/bp_sign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8423" y="1920240"/>
            <a:ext cx="2743200" cy="16916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748423" y="367131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gamma↑ / alpha↓ activation drives the band-power model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800600" y="4663440"/>
            <a:ext cx="68122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5029200" y="4828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(cross-subject)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029200" y="5074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57.8 / 58.3 / 61.7</a:t>
            </a:r>
            <a:endParaRPr lang="en-US" sz="2100" dirty="0"/>
          </a:p>
        </p:txBody>
      </p:sp>
      <p:sp>
        <p:nvSpPr>
          <p:cNvPr id="23" name="Text 19"/>
          <p:cNvSpPr/>
          <p:nvPr/>
        </p:nvSpPr>
        <p:spPr>
          <a:xfrm>
            <a:off x="5029200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BP / Combined %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7360920" y="4828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Within-subject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7360920" y="5074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62.5 / 68.1 / 71.0</a:t>
            </a:r>
            <a:endParaRPr lang="en-US" sz="2100" dirty="0"/>
          </a:p>
        </p:txBody>
      </p:sp>
      <p:sp>
        <p:nvSpPr>
          <p:cNvPr id="26" name="Text 22"/>
          <p:cNvSpPr/>
          <p:nvPr/>
        </p:nvSpPr>
        <p:spPr>
          <a:xfrm>
            <a:off x="7360920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BP / Combined %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9646920" y="48463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wins both.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Band-power alone edges ERP; fusing them adds ~3 pts. Best cross-subject result of any model here.</a:t>
            </a:r>
            <a:endParaRPr lang="en-US" sz="950" dirty="0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FD908358-EB4C-F5C4-CD7F-014020CC78FC}"/>
              </a:ext>
            </a:extLst>
          </p:cNvPr>
          <p:cNvSpPr/>
          <p:nvPr/>
        </p:nvSpPr>
        <p:spPr>
          <a:xfrm>
            <a:off x="548640" y="1463040"/>
            <a:ext cx="402336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C0096BF0-F6DD-8CC4-FE9E-9E59E9FCB935}"/>
              </a:ext>
            </a:extLst>
          </p:cNvPr>
          <p:cNvSpPr/>
          <p:nvPr/>
        </p:nvSpPr>
        <p:spPr>
          <a:xfrm>
            <a:off x="777240" y="1627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feature pipelines</a:t>
            </a:r>
            <a:endParaRPr lang="en-US" sz="150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DF519DE6-2280-8904-8E75-536F69E97ACA}"/>
              </a:ext>
            </a:extLst>
          </p:cNvPr>
          <p:cNvSpPr/>
          <p:nvPr/>
        </p:nvSpPr>
        <p:spPr>
          <a:xfrm>
            <a:off x="777240" y="19705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(time)</a:t>
            </a:r>
            <a:endParaRPr lang="en-US" sz="120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F9C9292D-8496-2FFD-0D37-0D31E8F1EFB0}"/>
              </a:ext>
            </a:extLst>
          </p:cNvPr>
          <p:cNvSpPr/>
          <p:nvPr/>
        </p:nvSpPr>
        <p:spPr>
          <a:xfrm>
            <a:off x="777240" y="22265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amplitude/latency &amp; mean-window features on 8 central channels — the evoked SEP.</a:t>
            </a:r>
            <a:endParaRPr lang="en-US" sz="100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DD2DA232-2EDD-B81E-72E0-52512E76FBE8}"/>
              </a:ext>
            </a:extLst>
          </p:cNvPr>
          <p:cNvSpPr/>
          <p:nvPr/>
        </p:nvSpPr>
        <p:spPr>
          <a:xfrm>
            <a:off x="777240" y="26929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Band-power (freq)</a:t>
            </a:r>
            <a:endParaRPr lang="en-US" sz="120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6FAFC249-3379-F732-C405-F3BF44FEA82A}"/>
              </a:ext>
            </a:extLst>
          </p:cNvPr>
          <p:cNvSpPr/>
          <p:nvPr/>
        </p:nvSpPr>
        <p:spPr>
          <a:xfrm>
            <a:off x="777240" y="29489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Welch PSD in delta/theta/alpha/beta/gamma across all 60 channels — the induced response.</a:t>
            </a:r>
            <a:endParaRPr lang="en-US" sz="1000" dirty="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A5F641C8-2074-9A1F-C57D-D3A310035AE0}"/>
              </a:ext>
            </a:extLst>
          </p:cNvPr>
          <p:cNvSpPr/>
          <p:nvPr/>
        </p:nvSpPr>
        <p:spPr>
          <a:xfrm>
            <a:off x="777240" y="34152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1200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9307C81E-0343-7353-712F-3AEEFEFBB522}"/>
              </a:ext>
            </a:extLst>
          </p:cNvPr>
          <p:cNvSpPr/>
          <p:nvPr/>
        </p:nvSpPr>
        <p:spPr>
          <a:xfrm>
            <a:off x="777240" y="367131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⊕ band-power concatenated — distinct neural phenomena, non-redundant features.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· 4-CLASS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Features, pipeline, and per-model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02336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27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feature pipelines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705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(time)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2265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amplitude/latency &amp; mean-window features on 8 central channels — the evoked SEP.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6929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Band-power (freq)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9489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Welch PSD in delta/theta/alpha/beta/gamma across all 60 channels — the induced response.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4152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67131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⊕ band-power concatenated — distinct neural phenomena, non-redundant features.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370832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44988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pipeline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864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shrinkage-LDA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528523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leakage-safe design.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class (min_intensity) is the only difference — it sits between no-stim and medium.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1463040"/>
            <a:ext cx="68122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0" descr="assets/lda_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920240"/>
            <a:ext cx="3703320" cy="2148840"/>
          </a:xfrm>
          <a:prstGeom prst="rect">
            <a:avLst/>
          </a:prstGeom>
        </p:spPr>
      </p:pic>
      <p:pic>
        <p:nvPicPr>
          <p:cNvPr id="18" name="Image 1" descr="assets/erp_s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1970532"/>
            <a:ext cx="2743200" cy="16916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732520" y="355752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Evoked SEP grows with intensity — the ERP feature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800600" y="4663440"/>
            <a:ext cx="68122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5029200" y="4828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(cross-subject)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029200" y="5074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44.8 / 44.2 / 48.7</a:t>
            </a:r>
            <a:endParaRPr lang="en-US" sz="2100" dirty="0"/>
          </a:p>
        </p:txBody>
      </p:sp>
      <p:sp>
        <p:nvSpPr>
          <p:cNvPr id="23" name="Text 19"/>
          <p:cNvSpPr/>
          <p:nvPr/>
        </p:nvSpPr>
        <p:spPr>
          <a:xfrm>
            <a:off x="5029200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BP / Combined %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7360920" y="4828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Within-subject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7360920" y="5074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50.8 / 58.0 / 61.6</a:t>
            </a:r>
            <a:endParaRPr lang="en-US" sz="2100" dirty="0"/>
          </a:p>
        </p:txBody>
      </p:sp>
      <p:sp>
        <p:nvSpPr>
          <p:cNvPr id="26" name="Text 22"/>
          <p:cNvSpPr/>
          <p:nvPr/>
        </p:nvSpPr>
        <p:spPr>
          <a:xfrm>
            <a:off x="7360920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BP / Combined %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9646920" y="48463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still best.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Cross-subject the extra class costs ~13 pts vs 3-class; the min↔medium overlap is the ceiling.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TO 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model, and what it means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94360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assets/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83080"/>
            <a:ext cx="5486400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20840" y="1508760"/>
            <a:ext cx="48920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949440" y="175564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60920" y="16642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Near-tie cross-subject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60920" y="192481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LOSO the combined-LDA (61.7% / 48.7%) and EEGNet (59.8% / 49.7%) are within ~2 pts at both class counts.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720840" y="2788920"/>
            <a:ext cx="48920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949440" y="3035808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60920" y="29443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LDA is the better deal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360920" y="320497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matches EEGNet with a closed-form fit in seconds, full interpretability, and no GPU, EEGNet needs 30 LOSO folds of training.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720840" y="4069080"/>
            <a:ext cx="48920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949440" y="4315968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360920" y="42245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ceiling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360920" y="448513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fail the same way: adjacent low-intensity classes (min↔medium) </a:t>
            </a: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53492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21295C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68680" y="5486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The combined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+ band-power LDA is the keeper.  We see equal cross-subject accuracy to EEGNet, a fraction of the cost, and it tells you </a:t>
            </a: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(gamma↑/alpha↓ activation, dose-dependent SEP). EEGNet is the validation that a learned model finds the same signal.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1003</Words>
  <Application>Microsoft Macintosh PowerPoint</Application>
  <PresentationFormat>Widescreen</PresentationFormat>
  <Paragraphs>168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EMS EEG Decoding — LDA vs EEGNet</dc:title>
  <dc:subject>PptxGenJS Presentation</dc:subject>
  <dc:creator>Adam Kablawi</dc:creator>
  <cp:lastModifiedBy>Adam Said Kablawi</cp:lastModifiedBy>
  <cp:revision>7</cp:revision>
  <dcterms:created xsi:type="dcterms:W3CDTF">2026-06-21T16:36:13Z</dcterms:created>
  <dcterms:modified xsi:type="dcterms:W3CDTF">2026-06-21T16:51:16Z</dcterms:modified>
</cp:coreProperties>
</file>