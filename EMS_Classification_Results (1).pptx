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69318f0e6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d69318f0e6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d69318f0e6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69318f0e6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d69318f0e6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d69318f0e6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02920" y="164592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Adaptive EMS Calibration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02920" y="2377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Using EEG-Based Deep Learning Classification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502920" y="3017520"/>
            <a:ext cx="5029200" cy="0"/>
          </a:xfrm>
          <a:prstGeom prst="straightConnector1">
            <a:avLst/>
          </a:prstGeom>
          <a:noFill/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502920" y="32004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Methods &amp; Results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02920" y="39776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2920" y="4526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Participants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651760" y="39776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160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651760" y="4526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Trials / Subject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800600" y="39776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800600" y="4526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EMS Conditions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949440" y="39776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949440" y="4526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DL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this study about?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20040" y="868680"/>
            <a:ext cx="8503920" cy="100584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02920" y="896112"/>
            <a:ext cx="8138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The Problem: 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EMS (Electrical Muscle Stimulation) delivers electrical currents to muscles. Tolerance levels differ hugely between people. Currently, calibration is done manually by trial and error, which is slow and inconsistent.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20040" y="2011680"/>
            <a:ext cx="2743200" cy="2834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20040" y="2011680"/>
            <a:ext cx="27432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84632" y="214884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484632" y="2514600"/>
            <a:ext cx="242316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4"/>
          <p:cNvSpPr/>
          <p:nvPr/>
        </p:nvSpPr>
        <p:spPr>
          <a:xfrm>
            <a:off x="484632" y="2606040"/>
            <a:ext cx="24231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Detect when EMS stimulation becomes intolerable using brain signals, so a computer system can automatically adjust the intensity in real time.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200400" y="2011680"/>
            <a:ext cx="2743200" cy="2834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3200400" y="2011680"/>
            <a:ext cx="2743200" cy="640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3364992" y="214884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4"/>
          <p:cNvCxnSpPr/>
          <p:nvPr/>
        </p:nvCxnSpPr>
        <p:spPr>
          <a:xfrm>
            <a:off x="3364992" y="2514600"/>
            <a:ext cx="242316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4"/>
          <p:cNvSpPr/>
          <p:nvPr/>
        </p:nvSpPr>
        <p:spPr>
          <a:xfrm>
            <a:off x="3364992" y="2606040"/>
            <a:ext cx="24231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Record EEG (brainwaves) while participants receive EMS at 4 levels: no stimulation, minimum, medium, and maximum intensity.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080760" y="2011680"/>
            <a:ext cx="2743200" cy="2834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6080760" y="2011680"/>
            <a:ext cx="2743200" cy="64008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245352" y="214884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Why EEG?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4"/>
          <p:cNvCxnSpPr/>
          <p:nvPr/>
        </p:nvCxnSpPr>
        <p:spPr>
          <a:xfrm>
            <a:off x="6245352" y="2514600"/>
            <a:ext cx="242316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"/>
          <p:cNvSpPr/>
          <p:nvPr/>
        </p:nvSpPr>
        <p:spPr>
          <a:xfrm>
            <a:off x="6245352" y="2606040"/>
            <a:ext cx="24231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EEG captures the brain's immediate response to stimulation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non-invasively from the scalp in real time.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 Design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20040" y="8686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 EMS Conditions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20040" y="1307592"/>
            <a:ext cx="3840480" cy="658368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02920" y="135331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S4 — No Stimulation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02920" y="1655064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Sham / Baseline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20040" y="2103120"/>
            <a:ext cx="3840480" cy="658368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502920" y="21488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S1 — Minimum Intensity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02920" y="2450592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Just perceivable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20040" y="2898648"/>
            <a:ext cx="3840480" cy="658368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502920" y="294436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S2 — Medium Intensity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02920" y="324612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Clearly perceivable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20040" y="3694176"/>
            <a:ext cx="3840480" cy="658368"/>
          </a:xfrm>
          <a:prstGeom prst="rect">
            <a:avLst/>
          </a:prstGeom>
          <a:solidFill>
            <a:srgbClr val="FEE2E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502920" y="3739896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S3 — Maximum Intensity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02920" y="4041648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Intolerable / painful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20040" y="45262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40 trials per condition · 160 total per subject · 31 subjects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663440" y="868680"/>
            <a:ext cx="4114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Trial Timeline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663450" y="1417325"/>
            <a:ext cx="1259400" cy="5943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693980" y="1453900"/>
            <a:ext cx="1198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Rest period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693980" y="1728216"/>
            <a:ext cx="1198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2.5–3.5 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(randomised)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922797" y="1417325"/>
            <a:ext cx="915900" cy="5943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953326" y="1453900"/>
            <a:ext cx="85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EMS stimulation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953326" y="1728216"/>
            <a:ext cx="85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1 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838685" y="1417325"/>
            <a:ext cx="687000" cy="594300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6869215" y="1453900"/>
            <a:ext cx="62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Post-stim window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869215" y="1728216"/>
            <a:ext cx="62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0.5 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7525601" y="1417325"/>
            <a:ext cx="1030500" cy="594300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7556131" y="1453900"/>
            <a:ext cx="969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Self-report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7556131" y="1728216"/>
            <a:ext cx="96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1–3 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(S5–S9)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663450" y="2220050"/>
            <a:ext cx="3892500" cy="387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4895190" y="2317938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← Epoch window for analysis: −2.0 s to +1.5 s 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663440" y="274320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Setup &amp; Protocol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663440" y="3182112"/>
            <a:ext cx="54864" cy="3200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4800600" y="3182112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EEG Cap: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650992" y="3182112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64-channel BrainProducts system, CACS-64 montage, FCz online reference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663440" y="3621024"/>
            <a:ext cx="54864" cy="3200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4800600" y="3621024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EMS Device: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650992" y="3621024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Teslasuit delivering calibrated current to left hand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663440" y="4059936"/>
            <a:ext cx="54864" cy="3200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4800600" y="4059936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Staircase Protocol: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650992" y="4059936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Part 1 identifies each participant's personal thresholds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663440" y="4498848"/>
            <a:ext cx="54864" cy="3200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4800600" y="4498848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Main Task: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650992" y="449884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Part 2 presents 160 randomised trials across the 4 conditions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EEG Preprocessing Pipeline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320050" y="1300888"/>
            <a:ext cx="4023300" cy="72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10" name="Google Shape;110;p6"/>
          <p:cNvSpPr/>
          <p:nvPr/>
        </p:nvSpPr>
        <p:spPr>
          <a:xfrm>
            <a:off x="411490" y="1425034"/>
            <a:ext cx="329100" cy="4470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1" name="Google Shape;111;p6"/>
          <p:cNvSpPr/>
          <p:nvPr/>
        </p:nvSpPr>
        <p:spPr>
          <a:xfrm>
            <a:off x="411490" y="1425034"/>
            <a:ext cx="3291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22970" y="1425043"/>
            <a:ext cx="33834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Load Raw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822970" y="1648496"/>
            <a:ext cx="3383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Read .vhdr/.eeg/.vmrk BrainVision files via MNE-Python..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20050" y="2194739"/>
            <a:ext cx="4023300" cy="72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15" name="Google Shape;115;p6"/>
          <p:cNvSpPr/>
          <p:nvPr/>
        </p:nvSpPr>
        <p:spPr>
          <a:xfrm>
            <a:off x="411490" y="2318885"/>
            <a:ext cx="329100" cy="4470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6" name="Google Shape;116;p6"/>
          <p:cNvSpPr/>
          <p:nvPr/>
        </p:nvSpPr>
        <p:spPr>
          <a:xfrm>
            <a:off x="411490" y="2318885"/>
            <a:ext cx="3291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822970" y="2335911"/>
            <a:ext cx="33834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Drop Channels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822970" y="2542348"/>
            <a:ext cx="3383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Remove 4 peripheral electrodes (FT9, FT10, TP9, TP10).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320050" y="3122613"/>
            <a:ext cx="4023300" cy="72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20" name="Google Shape;120;p6"/>
          <p:cNvSpPr/>
          <p:nvPr/>
        </p:nvSpPr>
        <p:spPr>
          <a:xfrm>
            <a:off x="411490" y="3307216"/>
            <a:ext cx="329100" cy="4470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1" name="Google Shape;121;p6"/>
          <p:cNvSpPr/>
          <p:nvPr/>
        </p:nvSpPr>
        <p:spPr>
          <a:xfrm>
            <a:off x="411490" y="3307216"/>
            <a:ext cx="3291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822970" y="3246768"/>
            <a:ext cx="33834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Band-pass Filter  1–100 Hz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822970" y="3470222"/>
            <a:ext cx="3383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Remove slow drift (&lt; 1 Hz) and high-frequency noise (&gt; 100 Hz).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892050" y="1300888"/>
            <a:ext cx="4023300" cy="72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25" name="Google Shape;125;p6"/>
          <p:cNvSpPr/>
          <p:nvPr/>
        </p:nvSpPr>
        <p:spPr>
          <a:xfrm>
            <a:off x="4983490" y="1425034"/>
            <a:ext cx="329100" cy="4470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26" name="Google Shape;126;p6"/>
          <p:cNvSpPr/>
          <p:nvPr/>
        </p:nvSpPr>
        <p:spPr>
          <a:xfrm>
            <a:off x="4983490" y="1425034"/>
            <a:ext cx="3291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394970" y="1425050"/>
            <a:ext cx="33834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Notch Filter  50 Hz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394970" y="1602820"/>
            <a:ext cx="3383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Remove power-line interference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892050" y="2194739"/>
            <a:ext cx="4023300" cy="72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30" name="Google Shape;130;p6"/>
          <p:cNvSpPr/>
          <p:nvPr/>
        </p:nvSpPr>
        <p:spPr>
          <a:xfrm>
            <a:off x="4983490" y="2318885"/>
            <a:ext cx="329100" cy="4470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31" name="Google Shape;131;p6"/>
          <p:cNvSpPr/>
          <p:nvPr/>
        </p:nvSpPr>
        <p:spPr>
          <a:xfrm>
            <a:off x="4983490" y="2318885"/>
            <a:ext cx="3291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394970" y="2287850"/>
            <a:ext cx="33834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Re-reference  (CAR)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394970" y="2542348"/>
            <a:ext cx="3383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Recover the FCz online reference electrode, then apply Common Average Reference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892050" y="3088590"/>
            <a:ext cx="4023300" cy="72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35" name="Google Shape;135;p6"/>
          <p:cNvSpPr/>
          <p:nvPr/>
        </p:nvSpPr>
        <p:spPr>
          <a:xfrm>
            <a:off x="4983490" y="3212736"/>
            <a:ext cx="329100" cy="4470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36" name="Google Shape;136;p6"/>
          <p:cNvSpPr/>
          <p:nvPr/>
        </p:nvSpPr>
        <p:spPr>
          <a:xfrm>
            <a:off x="4983490" y="3212736"/>
            <a:ext cx="3291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394970" y="3150663"/>
            <a:ext cx="33834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Epoch + Baseline Correct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394970" y="3436199"/>
            <a:ext cx="3383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Cut 160 clips of −2.0 s to +1.5 s around each EMS marker. Apply baseline correction using −0.7 s to −0.2 s window.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20040" y="4617720"/>
            <a:ext cx="8503920" cy="32918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411480" y="4617720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Output:  X matrix  (n_epochs × 60 channels × 750 time-points)   +   y vector  (0 = no stim · 1 = min · 2 = medium · 3 = max)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 Methodology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320040" y="804672"/>
            <a:ext cx="8503920" cy="74980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502920" y="822960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Within-Subject Paradigm: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completely separate model is trained for each participant. This is essential because EMS tolerance is deeply personal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(what is painful for one person may feel mild to another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320040" y="1691640"/>
            <a:ext cx="4160520" cy="2148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320040" y="1691640"/>
            <a:ext cx="416052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502920" y="1801368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EEGNet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02920" y="214884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EEGNetv4  (braindecode)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7"/>
          <p:cNvCxnSpPr/>
          <p:nvPr/>
        </p:nvCxnSpPr>
        <p:spPr>
          <a:xfrm>
            <a:off x="502920" y="2423160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7"/>
          <p:cNvSpPr/>
          <p:nvPr/>
        </p:nvSpPr>
        <p:spPr>
          <a:xfrm>
            <a:off x="502920" y="2487168"/>
            <a:ext cx="3749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What it does: A compact convolutional neural network designed specifically for EEG. Uses depthwise convolutions to learn spatial patterns across electrodes, then temporal patterns across 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02920" y="315468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Why chosen: Works well with limited data (160 trials). Widely used as a benchmark in EEG classification research.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709160" y="1691640"/>
            <a:ext cx="4160520" cy="2148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4709160" y="1691640"/>
            <a:ext cx="4160520" cy="640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4892040" y="1801368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ShallowNet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892040" y="214884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ShallowFBCSPNet  (braindecode)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7"/>
          <p:cNvCxnSpPr/>
          <p:nvPr/>
        </p:nvCxnSpPr>
        <p:spPr>
          <a:xfrm>
            <a:off x="4892040" y="2423160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7"/>
          <p:cNvSpPr/>
          <p:nvPr/>
        </p:nvSpPr>
        <p:spPr>
          <a:xfrm>
            <a:off x="4892040" y="2487168"/>
            <a:ext cx="3749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What it does: A shallow convolutional network that applies a single temporal convolution followed by a spatial filter, inspired by classical EEG signal processing (FBCSP).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892040" y="315468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Why chosen: Captures oscillatory EEG features in specific frequency bands. Strong for motor and sensory paradigms.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20040" y="391363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Cross-Validation &amp; Training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20040" y="4325112"/>
            <a:ext cx="109728" cy="10972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502920" y="427939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Repeated Stratified K-Fold:  5 folds × 5 repeats = 25 total evaluations per model per subject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320040" y="4526280"/>
            <a:ext cx="109728" cy="10972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502920" y="448056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Baseline removal before input:  only the 0 s → +1.5 s window is fed to the classifier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320040" y="4727448"/>
            <a:ext cx="109728" cy="10972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502920" y="4681728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Z-score normalisation computed from training data only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320040" y="4928616"/>
            <a:ext cx="109728" cy="10972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502920" y="4882896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Early stopping: training halts if validation loss does not improve for 15 consecutive epochs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Overview (EEG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 and ShallowNet)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320040" y="804672"/>
            <a:ext cx="2011680" cy="914400"/>
          </a:xfrm>
          <a:prstGeom prst="rect">
            <a:avLst/>
          </a:prstGeom>
          <a:solidFill>
            <a:srgbClr val="0D948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411480" y="868680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54.</a:t>
            </a: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11480" y="134416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EEGNet group mean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11480" y="153619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Chance = 25%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2468880" y="804672"/>
            <a:ext cx="2011680" cy="914400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2560320" y="868680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44.</a:t>
            </a:r>
            <a:r>
              <a:rPr b="1" lang="en-US" sz="28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28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2560320" y="134416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ShallowNet group mean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2560320" y="153619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Chance = 25%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617720" y="804672"/>
            <a:ext cx="2011680" cy="914400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4709160" y="868680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800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28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 / 31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709160" y="134416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Subjects above 50%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709160" y="153619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using EEGNet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6766560" y="804672"/>
            <a:ext cx="2011680" cy="9144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6858000" y="868680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800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1" i="0" lang="en-US" sz="2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 / 31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6858000" y="134416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EEGNet wins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858000" y="153619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vs ShallowNet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p8"/>
          <p:cNvCxnSpPr/>
          <p:nvPr/>
        </p:nvCxnSpPr>
        <p:spPr>
          <a:xfrm>
            <a:off x="617145" y="3924094"/>
            <a:ext cx="7726800" cy="0"/>
          </a:xfrm>
          <a:prstGeom prst="straightConnector1">
            <a:avLst/>
          </a:prstGeom>
          <a:noFill/>
          <a:ln cap="flat" cmpd="sng" w="15225">
            <a:solidFill>
              <a:srgbClr val="DC262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7" name="Google Shape;197;p8"/>
          <p:cNvSpPr/>
          <p:nvPr/>
        </p:nvSpPr>
        <p:spPr>
          <a:xfrm>
            <a:off x="7511690" y="3924093"/>
            <a:ext cx="100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25% chance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50" y="1794900"/>
            <a:ext cx="7191650" cy="321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8"/>
          <p:cNvSpPr txBox="1"/>
          <p:nvPr/>
        </p:nvSpPr>
        <p:spPr>
          <a:xfrm>
            <a:off x="7860025" y="2605575"/>
            <a:ext cx="8721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7675850" y="3112900"/>
            <a:ext cx="8844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accent1"/>
                </a:solidFill>
              </a:rPr>
              <a:t>EEG Net</a:t>
            </a:r>
            <a:endParaRPr b="1" sz="1100">
              <a:solidFill>
                <a:schemeClr val="accent1"/>
              </a:solidFill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7640750" y="3439575"/>
            <a:ext cx="954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AA84F"/>
                </a:solidFill>
              </a:rPr>
              <a:t>ShallowNet</a:t>
            </a:r>
            <a:endParaRPr b="1" sz="11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Overview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320050" y="804675"/>
            <a:ext cx="1609800" cy="9144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C4587"/>
              </a:solidFill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06638" y="1038395"/>
            <a:ext cx="1463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54.</a:t>
            </a:r>
            <a:r>
              <a:rPr b="1" lang="en-US" sz="28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1" i="0" lang="en-US" sz="2800" u="none" cap="none" strike="noStrike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2800" u="none" cap="none" strike="noStrik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25834" y="881726"/>
            <a:ext cx="146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1150" u="none" cap="none" strike="noStrike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EEGNet</a:t>
            </a:r>
            <a:endParaRPr b="1" i="0" sz="1150" u="none" cap="none" strike="noStrik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393209" y="1497031"/>
            <a:ext cx="146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i="1" lang="en-US" sz="105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±11.4% across subje</a:t>
            </a:r>
            <a:r>
              <a:rPr i="1" lang="en-US" sz="95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cts</a:t>
            </a:r>
            <a:endParaRPr b="0" i="0" sz="950" u="none" cap="none" strike="noStrik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2039282" y="804675"/>
            <a:ext cx="1609800" cy="914400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214" name="Google Shape;214;p9"/>
          <p:cNvSpPr/>
          <p:nvPr/>
        </p:nvSpPr>
        <p:spPr>
          <a:xfrm>
            <a:off x="3758514" y="804675"/>
            <a:ext cx="1609800" cy="914400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215" name="Google Shape;215;p9"/>
          <p:cNvSpPr/>
          <p:nvPr/>
        </p:nvSpPr>
        <p:spPr>
          <a:xfrm>
            <a:off x="5477746" y="804675"/>
            <a:ext cx="1609800" cy="9144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C27BA0"/>
              </a:solidFill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7860025" y="2605575"/>
            <a:ext cx="8721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6013" y="1837950"/>
            <a:ext cx="6611972" cy="325057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/>
          <p:nvPr/>
        </p:nvSpPr>
        <p:spPr>
          <a:xfrm>
            <a:off x="2125876" y="1038395"/>
            <a:ext cx="1463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B45F0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lang="en-US" sz="2800">
                <a:solidFill>
                  <a:srgbClr val="B45F0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2800" u="none" cap="none" strike="noStrike">
                <a:solidFill>
                  <a:srgbClr val="B45F0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1" lang="en-US" sz="2800">
                <a:solidFill>
                  <a:srgbClr val="B45F0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1" i="0" lang="en-US" sz="2800" u="none" cap="none" strike="noStrike">
                <a:solidFill>
                  <a:srgbClr val="B45F06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2800" u="none" cap="none" strike="noStrike">
              <a:solidFill>
                <a:srgbClr val="B45F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2145071" y="881726"/>
            <a:ext cx="146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1150" u="none" cap="none" strike="noStrike">
                <a:solidFill>
                  <a:srgbClr val="B45F06"/>
                </a:solidFill>
                <a:latin typeface="Calibri"/>
                <a:ea typeface="Calibri"/>
                <a:cs typeface="Calibri"/>
                <a:sym typeface="Calibri"/>
              </a:rPr>
              <a:t>EEG</a:t>
            </a:r>
            <a:r>
              <a:rPr b="1" lang="en-US" sz="1150">
                <a:solidFill>
                  <a:srgbClr val="B45F06"/>
                </a:solidFill>
                <a:latin typeface="Calibri"/>
                <a:ea typeface="Calibri"/>
                <a:cs typeface="Calibri"/>
                <a:sym typeface="Calibri"/>
              </a:rPr>
              <a:t>Inception</a:t>
            </a:r>
            <a:endParaRPr b="1" i="0" sz="1150" u="none" cap="none" strike="noStrike">
              <a:solidFill>
                <a:srgbClr val="B45F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2112446" y="1497031"/>
            <a:ext cx="146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i="1" lang="en-US" sz="1050">
                <a:solidFill>
                  <a:srgbClr val="B45F06"/>
                </a:solidFill>
                <a:latin typeface="Calibri"/>
                <a:ea typeface="Calibri"/>
                <a:cs typeface="Calibri"/>
                <a:sym typeface="Calibri"/>
              </a:rPr>
              <a:t>±10.8% across subje</a:t>
            </a:r>
            <a:r>
              <a:rPr i="1" lang="en-US" sz="950">
                <a:solidFill>
                  <a:srgbClr val="B45F06"/>
                </a:solidFill>
                <a:latin typeface="Calibri"/>
                <a:ea typeface="Calibri"/>
                <a:cs typeface="Calibri"/>
                <a:sym typeface="Calibri"/>
              </a:rPr>
              <a:t>cts</a:t>
            </a:r>
            <a:endParaRPr b="0" i="0" sz="950" u="none" cap="none" strike="noStrike">
              <a:solidFill>
                <a:srgbClr val="B45F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3808538" y="1028545"/>
            <a:ext cx="1463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46.7</a:t>
            </a:r>
            <a:r>
              <a:rPr b="1" i="0" lang="en-US" sz="28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28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3827734" y="871876"/>
            <a:ext cx="146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115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EEG</a:t>
            </a:r>
            <a:r>
              <a:rPr b="1" lang="en-US" sz="115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Conformer</a:t>
            </a:r>
            <a:endParaRPr b="1" i="0" sz="11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3795109" y="1487181"/>
            <a:ext cx="146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i="1" lang="en-US" sz="105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±10.4% across subje</a:t>
            </a:r>
            <a:r>
              <a:rPr i="1" lang="en-US" sz="95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cts</a:t>
            </a:r>
            <a:endParaRPr b="0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532113" y="1028545"/>
            <a:ext cx="1463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5B0F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2800" u="none" cap="none" strike="noStrike">
                <a:solidFill>
                  <a:srgbClr val="5B0F00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b="1" lang="en-US" sz="2800">
                <a:solidFill>
                  <a:srgbClr val="5B0F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2800" u="none" cap="none" strike="noStrike">
                <a:solidFill>
                  <a:srgbClr val="5B0F00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2800" u="none" cap="none" strike="noStrike">
              <a:solidFill>
                <a:srgbClr val="5B0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5551309" y="871876"/>
            <a:ext cx="146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1150">
                <a:solidFill>
                  <a:srgbClr val="5B0F00"/>
                </a:solidFill>
                <a:latin typeface="Calibri"/>
                <a:ea typeface="Calibri"/>
                <a:cs typeface="Calibri"/>
                <a:sym typeface="Calibri"/>
              </a:rPr>
              <a:t>ShallowNet</a:t>
            </a:r>
            <a:endParaRPr b="1" i="0" sz="1150" u="none" cap="none" strike="noStrike">
              <a:solidFill>
                <a:srgbClr val="5B0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518684" y="1487181"/>
            <a:ext cx="146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i="1" lang="en-US" sz="1050">
                <a:solidFill>
                  <a:srgbClr val="5B0F00"/>
                </a:solidFill>
                <a:latin typeface="Calibri"/>
                <a:ea typeface="Calibri"/>
                <a:cs typeface="Calibri"/>
                <a:sym typeface="Calibri"/>
              </a:rPr>
              <a:t>±10.4% across subje</a:t>
            </a:r>
            <a:r>
              <a:rPr i="1" lang="en-US" sz="950">
                <a:solidFill>
                  <a:srgbClr val="5B0F00"/>
                </a:solidFill>
                <a:latin typeface="Calibri"/>
                <a:ea typeface="Calibri"/>
                <a:cs typeface="Calibri"/>
                <a:sym typeface="Calibri"/>
              </a:rPr>
              <a:t>cts</a:t>
            </a:r>
            <a:endParaRPr b="0" i="0" sz="950" u="none" cap="none" strike="noStrike">
              <a:solidFill>
                <a:srgbClr val="5B0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7196971" y="804675"/>
            <a:ext cx="1609800" cy="9144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51C75"/>
              </a:solidFill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7249963" y="1008324"/>
            <a:ext cx="1463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42.6</a:t>
            </a:r>
            <a:r>
              <a:rPr b="1" i="0" lang="en-US" sz="2800" u="none" cap="none" strike="noStrike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28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7269159" y="845128"/>
            <a:ext cx="146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115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ATCNet</a:t>
            </a:r>
            <a:endParaRPr b="1" i="0" sz="115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7236534" y="1473488"/>
            <a:ext cx="146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i="1" lang="en-US" sz="105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±9.4% across subje</a:t>
            </a:r>
            <a:r>
              <a:rPr i="1" lang="en-US" sz="95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cts</a:t>
            </a:r>
            <a:endParaRPr b="0" i="0" sz="95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Overview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 txBox="1"/>
          <p:nvPr/>
        </p:nvSpPr>
        <p:spPr>
          <a:xfrm>
            <a:off x="7860025" y="2605575"/>
            <a:ext cx="8721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 txBox="1"/>
          <p:nvPr/>
        </p:nvSpPr>
        <p:spPr>
          <a:xfrm>
            <a:off x="365750" y="791550"/>
            <a:ext cx="2656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C343D"/>
                </a:solidFill>
              </a:rPr>
              <a:t>Confusion Matrix</a:t>
            </a:r>
            <a:endParaRPr b="1" sz="1900">
              <a:solidFill>
                <a:srgbClr val="0C343D"/>
              </a:solidFill>
            </a:endParaRPr>
          </a:p>
        </p:txBody>
      </p:sp>
      <p:pic>
        <p:nvPicPr>
          <p:cNvPr id="240" name="Google Shape;24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7775" y="1322590"/>
            <a:ext cx="3956475" cy="3470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625" y="1322600"/>
            <a:ext cx="3956475" cy="3470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