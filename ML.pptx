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6" r:id="rId9"/>
    <p:sldId id="267" r:id="rId10"/>
    <p:sldId id="263" r:id="rId11"/>
    <p:sldId id="265" r:id="rId12"/>
    <p:sldId id="268" r:id="rId13"/>
    <p:sldId id="269" r:id="rId14"/>
    <p:sldId id="270" r:id="rId15"/>
    <p:sldId id="272" r:id="rId16"/>
    <p:sldId id="273" r:id="rId17"/>
    <p:sldId id="274" r:id="rId18"/>
    <p:sldId id="275" r:id="rId19"/>
    <p:sldId id="276" r:id="rId20"/>
    <p:sldId id="277"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54"/>
    <p:restoredTop sz="94610"/>
  </p:normalViewPr>
  <p:slideViewPr>
    <p:cSldViewPr snapToGrid="0" snapToObjects="1">
      <p:cViewPr varScale="1">
        <p:scale>
          <a:sx n="93" d="100"/>
          <a:sy n="93" d="100"/>
        </p:scale>
        <p:origin x="85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44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5" name="Text 3"/>
          <p:cNvSpPr/>
          <p:nvPr/>
        </p:nvSpPr>
        <p:spPr>
          <a:xfrm>
            <a:off x="731520" y="1965960"/>
            <a:ext cx="10515600" cy="914400"/>
          </a:xfrm>
          <a:prstGeom prst="rect">
            <a:avLst/>
          </a:prstGeom>
          <a:noFill/>
          <a:ln/>
        </p:spPr>
        <p:txBody>
          <a:bodyPr wrap="square" lIns="0" tIns="0" rIns="0" bIns="0" rtlCol="0" anchor="ctr"/>
          <a:lstStyle/>
          <a:p>
            <a:r>
              <a:rPr lang="en-US" sz="3200" b="1" kern="0" spc="300" dirty="0">
                <a:solidFill>
                  <a:srgbClr val="CADCFC"/>
                </a:solidFill>
                <a:latin typeface="Calibri" pitchFamily="34" charset="0"/>
                <a:ea typeface="Calibri" pitchFamily="34" charset="-122"/>
                <a:cs typeface="Calibri" pitchFamily="34" charset="-120"/>
              </a:rPr>
              <a:t>DECODING STIMULATION INTENSITY FROM EEG</a:t>
            </a:r>
            <a:endParaRPr lang="en-US" sz="3200" dirty="0"/>
          </a:p>
        </p:txBody>
      </p:sp>
      <p:sp>
        <p:nvSpPr>
          <p:cNvPr id="6" name="Text 4"/>
          <p:cNvSpPr/>
          <p:nvPr/>
        </p:nvSpPr>
        <p:spPr>
          <a:xfrm>
            <a:off x="777240" y="3063240"/>
            <a:ext cx="9601200" cy="822960"/>
          </a:xfrm>
          <a:prstGeom prst="rect">
            <a:avLst/>
          </a:prstGeom>
          <a:noFill/>
          <a:ln/>
        </p:spPr>
        <p:txBody>
          <a:bodyPr wrap="square" lIns="0" tIns="0" rIns="0" bIns="0" rtlCol="0" anchor="ctr"/>
          <a:lstStyle/>
          <a:p>
            <a:pPr marL="0" indent="0">
              <a:lnSpc>
                <a:spcPct val="115000"/>
              </a:lnSpc>
              <a:buNone/>
            </a:pPr>
            <a:r>
              <a:rPr lang="en-US" dirty="0">
                <a:solidFill>
                  <a:srgbClr val="CADCFC"/>
                </a:solidFill>
                <a:latin typeface="Calibri" pitchFamily="34" charset="0"/>
                <a:ea typeface="Calibri" pitchFamily="34" charset="-122"/>
                <a:cs typeface="Calibri" pitchFamily="34" charset="-120"/>
              </a:rPr>
              <a:t>Time-domain &amp; frequency-domain decoding of EMS haptic-shock intensity,</a:t>
            </a:r>
            <a:endParaRPr lang="en-US" dirty="0"/>
          </a:p>
          <a:p>
            <a:pPr marL="0" indent="0">
              <a:lnSpc>
                <a:spcPct val="115000"/>
              </a:lnSpc>
              <a:buNone/>
            </a:pPr>
            <a:r>
              <a:rPr lang="en-US" dirty="0">
                <a:solidFill>
                  <a:srgbClr val="CADCFC"/>
                </a:solidFill>
                <a:latin typeface="Calibri" pitchFamily="34" charset="0"/>
                <a:ea typeface="Calibri" pitchFamily="34" charset="-122"/>
                <a:cs typeface="Calibri" pitchFamily="34" charset="-120"/>
              </a:rPr>
              <a:t>comparing shrinkage-LDA, EEGNet, and a 4-family stacking ensemble.</a:t>
            </a:r>
            <a:endParaRPr lang="en-US" dirty="0"/>
          </a:p>
        </p:txBody>
      </p:sp>
      <p:sp>
        <p:nvSpPr>
          <p:cNvPr id="7" name="Text 5"/>
          <p:cNvSpPr/>
          <p:nvPr/>
        </p:nvSpPr>
        <p:spPr>
          <a:xfrm>
            <a:off x="777240" y="4297680"/>
            <a:ext cx="1051560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29 subjects</a:t>
            </a:r>
            <a:r>
              <a:rPr lang="en-US" sz="1400" dirty="0">
                <a:solidFill>
                  <a:srgbClr val="1C7293"/>
                </a:solidFill>
                <a:latin typeface="Calibri" pitchFamily="34" charset="0"/>
                <a:ea typeface="Calibri" pitchFamily="34" charset="-122"/>
                <a:cs typeface="Calibri" pitchFamily="34" charset="-120"/>
              </a:rPr>
              <a:t>   ·   </a:t>
            </a:r>
            <a:r>
              <a:rPr lang="en-US" sz="1400" b="1" dirty="0">
                <a:solidFill>
                  <a:srgbClr val="FFFFFF"/>
                </a:solidFill>
                <a:latin typeface="Calibri" pitchFamily="34" charset="0"/>
                <a:ea typeface="Calibri" pitchFamily="34" charset="-122"/>
                <a:cs typeface="Calibri" pitchFamily="34" charset="-120"/>
              </a:rPr>
              <a:t>60 channels</a:t>
            </a:r>
            <a:r>
              <a:rPr lang="en-US" sz="1400" dirty="0">
                <a:solidFill>
                  <a:srgbClr val="1C7293"/>
                </a:solidFill>
                <a:latin typeface="Calibri" pitchFamily="34" charset="0"/>
                <a:ea typeface="Calibri" pitchFamily="34" charset="-122"/>
                <a:cs typeface="Calibri" pitchFamily="34" charset="-120"/>
              </a:rPr>
              <a:t>   ·   </a:t>
            </a:r>
            <a:r>
              <a:rPr lang="en-US" sz="1400" b="1" dirty="0">
                <a:solidFill>
                  <a:srgbClr val="FFFFFF"/>
                </a:solidFill>
                <a:latin typeface="Calibri" pitchFamily="34" charset="0"/>
                <a:ea typeface="Calibri" pitchFamily="34" charset="-122"/>
                <a:cs typeface="Calibri" pitchFamily="34" charset="-120"/>
              </a:rPr>
              <a:t>3-class · 4-class · stacking</a:t>
            </a:r>
            <a:r>
              <a:rPr lang="en-US" sz="1400" dirty="0">
                <a:solidFill>
                  <a:srgbClr val="1C7293"/>
                </a:solidFill>
                <a:latin typeface="Calibri" pitchFamily="34" charset="0"/>
                <a:ea typeface="Calibri" pitchFamily="34" charset="-122"/>
                <a:cs typeface="Calibri" pitchFamily="34" charset="-120"/>
              </a:rPr>
              <a:t>   ·   </a:t>
            </a:r>
            <a:r>
              <a:rPr lang="en-US" sz="1400" b="1" dirty="0">
                <a:solidFill>
                  <a:srgbClr val="FFFFFF"/>
                </a:solidFill>
                <a:latin typeface="Calibri" pitchFamily="34" charset="0"/>
                <a:ea typeface="Calibri" pitchFamily="34" charset="-122"/>
                <a:cs typeface="Calibri" pitchFamily="34" charset="-120"/>
              </a:rPr>
              <a:t>LOSO + within-subject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 COLLECTION</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How the EEG was recorded &amp; prepared</a:t>
            </a:r>
            <a:endParaRPr lang="en-US" sz="3000" dirty="0"/>
          </a:p>
        </p:txBody>
      </p:sp>
      <p:sp>
        <p:nvSpPr>
          <p:cNvPr id="4" name="Shape 2"/>
          <p:cNvSpPr/>
          <p:nvPr/>
        </p:nvSpPr>
        <p:spPr>
          <a:xfrm>
            <a:off x="548640" y="1554480"/>
            <a:ext cx="2697480" cy="2057400"/>
          </a:xfrm>
          <a:prstGeom prst="roundRect">
            <a:avLst>
              <a:gd name="adj" fmla="val 3556"/>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5" name="Text 3"/>
          <p:cNvSpPr/>
          <p:nvPr/>
        </p:nvSpPr>
        <p:spPr>
          <a:xfrm>
            <a:off x="548640" y="1810512"/>
            <a:ext cx="2697480" cy="640080"/>
          </a:xfrm>
          <a:prstGeom prst="rect">
            <a:avLst/>
          </a:prstGeom>
          <a:noFill/>
          <a:ln/>
        </p:spPr>
        <p:txBody>
          <a:bodyPr wrap="square" lIns="0" tIns="0" rIns="0" bIns="0"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60</a:t>
            </a:r>
            <a:endParaRPr lang="en-US" sz="3000" dirty="0"/>
          </a:p>
        </p:txBody>
      </p:sp>
      <p:sp>
        <p:nvSpPr>
          <p:cNvPr id="6" name="Text 4"/>
          <p:cNvSpPr/>
          <p:nvPr/>
        </p:nvSpPr>
        <p:spPr>
          <a:xfrm>
            <a:off x="731520" y="2487168"/>
            <a:ext cx="2331720" cy="320040"/>
          </a:xfrm>
          <a:prstGeom prst="rect">
            <a:avLst/>
          </a:prstGeom>
          <a:noFill/>
          <a:ln/>
        </p:spPr>
        <p:txBody>
          <a:bodyPr wrap="square" lIns="0" tIns="0" rIns="0" bIns="0" rtlCol="0" anchor="ctr"/>
          <a:lstStyle/>
          <a:p>
            <a:pPr marL="0" indent="0" algn="ctr">
              <a:buNone/>
            </a:pPr>
            <a:r>
              <a:rPr lang="en-US" sz="1300" b="1" dirty="0">
                <a:solidFill>
                  <a:srgbClr val="21295C"/>
                </a:solidFill>
                <a:latin typeface="Calibri" pitchFamily="34" charset="0"/>
                <a:ea typeface="Calibri" pitchFamily="34" charset="-122"/>
                <a:cs typeface="Calibri" pitchFamily="34" charset="-120"/>
              </a:rPr>
              <a:t>EEG channels</a:t>
            </a:r>
            <a:endParaRPr lang="en-US" sz="1300" dirty="0"/>
          </a:p>
        </p:txBody>
      </p:sp>
      <p:sp>
        <p:nvSpPr>
          <p:cNvPr id="7" name="Text 5"/>
          <p:cNvSpPr/>
          <p:nvPr/>
        </p:nvSpPr>
        <p:spPr>
          <a:xfrm>
            <a:off x="777240" y="2816352"/>
            <a:ext cx="2240280" cy="731520"/>
          </a:xfrm>
          <a:prstGeom prst="rect">
            <a:avLst/>
          </a:prstGeom>
          <a:noFill/>
          <a:ln/>
        </p:spPr>
        <p:txBody>
          <a:bodyPr wrap="square" lIns="0" tIns="0" rIns="0" bIns="0" rtlCol="0" anchor="ctr"/>
          <a:lstStyle/>
          <a:p>
            <a:pPr marL="0" indent="0" algn="ctr">
              <a:lnSpc>
                <a:spcPct val="105000"/>
              </a:lnSpc>
              <a:buNone/>
            </a:pPr>
            <a:r>
              <a:rPr lang="en-US" sz="1050" dirty="0">
                <a:solidFill>
                  <a:srgbClr val="64748B"/>
                </a:solidFill>
                <a:latin typeface="Calibri" pitchFamily="34" charset="0"/>
                <a:ea typeface="Calibri" pitchFamily="34" charset="-122"/>
                <a:cs typeface="Calibri" pitchFamily="34" charset="-120"/>
              </a:rPr>
              <a:t>10-20 montage, central/fronto-central focus for the somatosensory response</a:t>
            </a:r>
            <a:endParaRPr lang="en-US" sz="1050" dirty="0"/>
          </a:p>
        </p:txBody>
      </p:sp>
      <p:sp>
        <p:nvSpPr>
          <p:cNvPr id="8" name="Shape 6"/>
          <p:cNvSpPr/>
          <p:nvPr/>
        </p:nvSpPr>
        <p:spPr>
          <a:xfrm>
            <a:off x="3355848" y="1554480"/>
            <a:ext cx="2697480" cy="2057400"/>
          </a:xfrm>
          <a:prstGeom prst="roundRect">
            <a:avLst>
              <a:gd name="adj" fmla="val 3556"/>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3355848" y="1810512"/>
            <a:ext cx="2697480" cy="640080"/>
          </a:xfrm>
          <a:prstGeom prst="rect">
            <a:avLst/>
          </a:prstGeom>
          <a:noFill/>
          <a:ln/>
        </p:spPr>
        <p:txBody>
          <a:bodyPr wrap="square" lIns="0" tIns="0" rIns="0" bIns="0" rtlCol="0" anchor="ctr"/>
          <a:lstStyle/>
          <a:p>
            <a:pPr marL="0" indent="0" algn="ctr">
              <a:buNone/>
            </a:pPr>
            <a:r>
              <a:rPr lang="en-US" sz="3000" b="1" dirty="0">
                <a:solidFill>
                  <a:srgbClr val="B85042"/>
                </a:solidFill>
                <a:latin typeface="Cambria" pitchFamily="34" charset="0"/>
                <a:ea typeface="Cambria" pitchFamily="34" charset="-122"/>
                <a:cs typeface="Cambria" pitchFamily="34" charset="-120"/>
              </a:rPr>
              <a:t>1000 Hz</a:t>
            </a:r>
            <a:endParaRPr lang="en-US" sz="3000" dirty="0"/>
          </a:p>
        </p:txBody>
      </p:sp>
      <p:sp>
        <p:nvSpPr>
          <p:cNvPr id="10" name="Text 8"/>
          <p:cNvSpPr/>
          <p:nvPr/>
        </p:nvSpPr>
        <p:spPr>
          <a:xfrm>
            <a:off x="3538728" y="2487168"/>
            <a:ext cx="2331720" cy="320040"/>
          </a:xfrm>
          <a:prstGeom prst="rect">
            <a:avLst/>
          </a:prstGeom>
          <a:noFill/>
          <a:ln/>
        </p:spPr>
        <p:txBody>
          <a:bodyPr wrap="square" lIns="0" tIns="0" rIns="0" bIns="0" rtlCol="0" anchor="ctr"/>
          <a:lstStyle/>
          <a:p>
            <a:pPr marL="0" indent="0" algn="ctr">
              <a:buNone/>
            </a:pPr>
            <a:r>
              <a:rPr lang="en-US" sz="1300" b="1" dirty="0">
                <a:solidFill>
                  <a:srgbClr val="21295C"/>
                </a:solidFill>
                <a:latin typeface="Calibri" pitchFamily="34" charset="0"/>
                <a:ea typeface="Calibri" pitchFamily="34" charset="-122"/>
                <a:cs typeface="Calibri" pitchFamily="34" charset="-120"/>
              </a:rPr>
              <a:t>Acquisition rate</a:t>
            </a:r>
            <a:endParaRPr lang="en-US" sz="1300" dirty="0"/>
          </a:p>
        </p:txBody>
      </p:sp>
      <p:sp>
        <p:nvSpPr>
          <p:cNvPr id="11" name="Text 9"/>
          <p:cNvSpPr/>
          <p:nvPr/>
        </p:nvSpPr>
        <p:spPr>
          <a:xfrm>
            <a:off x="3584448" y="2816352"/>
            <a:ext cx="2240280" cy="731520"/>
          </a:xfrm>
          <a:prstGeom prst="rect">
            <a:avLst/>
          </a:prstGeom>
          <a:noFill/>
          <a:ln/>
        </p:spPr>
        <p:txBody>
          <a:bodyPr wrap="square" lIns="0" tIns="0" rIns="0" bIns="0" rtlCol="0" anchor="ctr"/>
          <a:lstStyle/>
          <a:p>
            <a:pPr marL="0" indent="0" algn="ctr">
              <a:lnSpc>
                <a:spcPct val="105000"/>
              </a:lnSpc>
              <a:buNone/>
            </a:pPr>
            <a:r>
              <a:rPr lang="en-US" sz="1050" dirty="0">
                <a:solidFill>
                  <a:srgbClr val="64748B"/>
                </a:solidFill>
                <a:latin typeface="Calibri" pitchFamily="34" charset="0"/>
                <a:ea typeface="Calibri" pitchFamily="34" charset="-122"/>
                <a:cs typeface="Calibri" pitchFamily="34" charset="-120"/>
              </a:rPr>
              <a:t>Notch-filtered at 50 Hz; band-pass up to 100 Hz on the raw recording</a:t>
            </a:r>
            <a:endParaRPr lang="en-US" sz="1050" dirty="0"/>
          </a:p>
        </p:txBody>
      </p:sp>
      <p:sp>
        <p:nvSpPr>
          <p:cNvPr id="12" name="Shape 10"/>
          <p:cNvSpPr/>
          <p:nvPr/>
        </p:nvSpPr>
        <p:spPr>
          <a:xfrm>
            <a:off x="6163056" y="1554480"/>
            <a:ext cx="2697480" cy="2057400"/>
          </a:xfrm>
          <a:prstGeom prst="roundRect">
            <a:avLst>
              <a:gd name="adj" fmla="val 3556"/>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3" name="Text 11"/>
          <p:cNvSpPr/>
          <p:nvPr/>
        </p:nvSpPr>
        <p:spPr>
          <a:xfrm>
            <a:off x="6163056" y="1810512"/>
            <a:ext cx="2697480" cy="640080"/>
          </a:xfrm>
          <a:prstGeom prst="rect">
            <a:avLst/>
          </a:prstGeom>
          <a:noFill/>
          <a:ln/>
        </p:spPr>
        <p:txBody>
          <a:bodyPr wrap="square" lIns="0" tIns="0" rIns="0" bIns="0"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250 Hz</a:t>
            </a:r>
            <a:endParaRPr lang="en-US" sz="3000" dirty="0"/>
          </a:p>
        </p:txBody>
      </p:sp>
      <p:sp>
        <p:nvSpPr>
          <p:cNvPr id="14" name="Text 12"/>
          <p:cNvSpPr/>
          <p:nvPr/>
        </p:nvSpPr>
        <p:spPr>
          <a:xfrm>
            <a:off x="6345936" y="2487168"/>
            <a:ext cx="2331720" cy="320040"/>
          </a:xfrm>
          <a:prstGeom prst="rect">
            <a:avLst/>
          </a:prstGeom>
          <a:noFill/>
          <a:ln/>
        </p:spPr>
        <p:txBody>
          <a:bodyPr wrap="square" lIns="0" tIns="0" rIns="0" bIns="0" rtlCol="0" anchor="ctr"/>
          <a:lstStyle/>
          <a:p>
            <a:pPr marL="0" indent="0" algn="ctr">
              <a:buNone/>
            </a:pPr>
            <a:r>
              <a:rPr lang="en-US" sz="1300" b="1" dirty="0">
                <a:solidFill>
                  <a:srgbClr val="21295C"/>
                </a:solidFill>
                <a:latin typeface="Calibri" pitchFamily="34" charset="0"/>
                <a:ea typeface="Calibri" pitchFamily="34" charset="-122"/>
                <a:cs typeface="Calibri" pitchFamily="34" charset="-120"/>
              </a:rPr>
              <a:t>Analysis rate</a:t>
            </a:r>
            <a:endParaRPr lang="en-US" sz="1300" dirty="0"/>
          </a:p>
        </p:txBody>
      </p:sp>
      <p:sp>
        <p:nvSpPr>
          <p:cNvPr id="15" name="Text 13"/>
          <p:cNvSpPr/>
          <p:nvPr/>
        </p:nvSpPr>
        <p:spPr>
          <a:xfrm>
            <a:off x="6391656" y="2816352"/>
            <a:ext cx="2240280" cy="731520"/>
          </a:xfrm>
          <a:prstGeom prst="rect">
            <a:avLst/>
          </a:prstGeom>
          <a:noFill/>
          <a:ln/>
        </p:spPr>
        <p:txBody>
          <a:bodyPr wrap="square" lIns="0" tIns="0" rIns="0" bIns="0" rtlCol="0" anchor="ctr"/>
          <a:lstStyle/>
          <a:p>
            <a:pPr marL="0" indent="0" algn="ctr">
              <a:lnSpc>
                <a:spcPct val="105000"/>
              </a:lnSpc>
              <a:buNone/>
            </a:pPr>
            <a:r>
              <a:rPr lang="en-US" sz="1050" dirty="0">
                <a:solidFill>
                  <a:srgbClr val="64748B"/>
                </a:solidFill>
                <a:latin typeface="Calibri" pitchFamily="34" charset="0"/>
                <a:ea typeface="Calibri" pitchFamily="34" charset="-122"/>
                <a:cs typeface="Calibri" pitchFamily="34" charset="-120"/>
              </a:rPr>
              <a:t>Anti-aliased decimation by 4 (FIR low-pass) before feature extraction</a:t>
            </a:r>
            <a:endParaRPr lang="en-US" sz="1050" dirty="0"/>
          </a:p>
        </p:txBody>
      </p:sp>
      <p:sp>
        <p:nvSpPr>
          <p:cNvPr id="16" name="Shape 14"/>
          <p:cNvSpPr/>
          <p:nvPr/>
        </p:nvSpPr>
        <p:spPr>
          <a:xfrm>
            <a:off x="8970264" y="1554480"/>
            <a:ext cx="2697480" cy="2057400"/>
          </a:xfrm>
          <a:prstGeom prst="roundRect">
            <a:avLst>
              <a:gd name="adj" fmla="val 3556"/>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7" name="Text 15"/>
          <p:cNvSpPr/>
          <p:nvPr/>
        </p:nvSpPr>
        <p:spPr>
          <a:xfrm>
            <a:off x="8970264" y="1810512"/>
            <a:ext cx="2697480" cy="640080"/>
          </a:xfrm>
          <a:prstGeom prst="rect">
            <a:avLst/>
          </a:prstGeom>
          <a:noFill/>
          <a:ln/>
        </p:spPr>
        <p:txBody>
          <a:bodyPr wrap="square" lIns="0" tIns="0" rIns="0" bIns="0" rtlCol="0" anchor="ctr"/>
          <a:lstStyle/>
          <a:p>
            <a:pPr marL="0" indent="0" algn="ctr">
              <a:buNone/>
            </a:pPr>
            <a:r>
              <a:rPr lang="en-US" sz="3000" b="1" dirty="0">
                <a:solidFill>
                  <a:srgbClr val="1C7293"/>
                </a:solidFill>
                <a:latin typeface="Cambria" pitchFamily="34" charset="0"/>
                <a:ea typeface="Cambria" pitchFamily="34" charset="-122"/>
                <a:cs typeface="Cambria" pitchFamily="34" charset="-120"/>
              </a:rPr>
              <a:t>160</a:t>
            </a:r>
            <a:endParaRPr lang="en-US" sz="3000" dirty="0"/>
          </a:p>
        </p:txBody>
      </p:sp>
      <p:sp>
        <p:nvSpPr>
          <p:cNvPr id="18" name="Text 16"/>
          <p:cNvSpPr/>
          <p:nvPr/>
        </p:nvSpPr>
        <p:spPr>
          <a:xfrm>
            <a:off x="9153144" y="2487168"/>
            <a:ext cx="2331720" cy="320040"/>
          </a:xfrm>
          <a:prstGeom prst="rect">
            <a:avLst/>
          </a:prstGeom>
          <a:noFill/>
          <a:ln/>
        </p:spPr>
        <p:txBody>
          <a:bodyPr wrap="square" lIns="0" tIns="0" rIns="0" bIns="0" rtlCol="0" anchor="ctr"/>
          <a:lstStyle/>
          <a:p>
            <a:pPr marL="0" indent="0" algn="ctr">
              <a:buNone/>
            </a:pPr>
            <a:r>
              <a:rPr lang="en-US" sz="1300" b="1" dirty="0">
                <a:solidFill>
                  <a:srgbClr val="21295C"/>
                </a:solidFill>
                <a:latin typeface="Calibri" pitchFamily="34" charset="0"/>
                <a:ea typeface="Calibri" pitchFamily="34" charset="-122"/>
                <a:cs typeface="Calibri" pitchFamily="34" charset="-120"/>
              </a:rPr>
              <a:t>Epochs / subject</a:t>
            </a:r>
            <a:endParaRPr lang="en-US" sz="1300" dirty="0"/>
          </a:p>
        </p:txBody>
      </p:sp>
      <p:sp>
        <p:nvSpPr>
          <p:cNvPr id="19" name="Text 17"/>
          <p:cNvSpPr/>
          <p:nvPr/>
        </p:nvSpPr>
        <p:spPr>
          <a:xfrm>
            <a:off x="9198864" y="2816352"/>
            <a:ext cx="2240280" cy="731520"/>
          </a:xfrm>
          <a:prstGeom prst="rect">
            <a:avLst/>
          </a:prstGeom>
          <a:noFill/>
          <a:ln/>
        </p:spPr>
        <p:txBody>
          <a:bodyPr wrap="square" lIns="0" tIns="0" rIns="0" bIns="0" rtlCol="0" anchor="ctr"/>
          <a:lstStyle/>
          <a:p>
            <a:pPr marL="0" indent="0" algn="ctr">
              <a:lnSpc>
                <a:spcPct val="105000"/>
              </a:lnSpc>
              <a:buNone/>
            </a:pPr>
            <a:r>
              <a:rPr lang="en-US" sz="1050" dirty="0">
                <a:solidFill>
                  <a:srgbClr val="64748B"/>
                </a:solidFill>
                <a:latin typeface="Calibri" pitchFamily="34" charset="0"/>
                <a:ea typeface="Calibri" pitchFamily="34" charset="-122"/>
                <a:cs typeface="Calibri" pitchFamily="34" charset="-120"/>
              </a:rPr>
              <a:t>Stimulus-locked trials, balanced across intensity conditions</a:t>
            </a:r>
            <a:endParaRPr lang="en-US" sz="1050" dirty="0"/>
          </a:p>
        </p:txBody>
      </p:sp>
      <p:sp>
        <p:nvSpPr>
          <p:cNvPr id="20" name="Shape 18"/>
          <p:cNvSpPr/>
          <p:nvPr/>
        </p:nvSpPr>
        <p:spPr>
          <a:xfrm>
            <a:off x="548640" y="3977640"/>
            <a:ext cx="11064240" cy="2286000"/>
          </a:xfrm>
          <a:prstGeom prst="roundRect">
            <a:avLst>
              <a:gd name="adj" fmla="val 320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21" name="Text 19"/>
          <p:cNvSpPr/>
          <p:nvPr/>
        </p:nvSpPr>
        <p:spPr>
          <a:xfrm>
            <a:off x="777240" y="4160520"/>
            <a:ext cx="10058400" cy="365760"/>
          </a:xfrm>
          <a:prstGeom prst="rect">
            <a:avLst/>
          </a:prstGeom>
          <a:noFill/>
          <a:ln/>
        </p:spPr>
        <p:txBody>
          <a:bodyPr wrap="square" lIns="0" tIns="0" rIns="0" bIns="0" rtlCol="0" anchor="ctr"/>
          <a:lstStyle/>
          <a:p>
            <a:pPr marL="0" indent="0">
              <a:buNone/>
            </a:pPr>
            <a:r>
              <a:rPr lang="en-US" sz="1700" b="1" dirty="0">
                <a:solidFill>
                  <a:srgbClr val="21295C"/>
                </a:solidFill>
                <a:latin typeface="Cambria" pitchFamily="34" charset="0"/>
                <a:ea typeface="Cambria" pitchFamily="34" charset="-122"/>
                <a:cs typeface="Cambria" pitchFamily="34" charset="-120"/>
              </a:rPr>
              <a:t>Preprocessing &amp; epoching pipeline</a:t>
            </a:r>
            <a:endParaRPr lang="en-US" sz="1700" dirty="0"/>
          </a:p>
        </p:txBody>
      </p:sp>
      <p:sp>
        <p:nvSpPr>
          <p:cNvPr id="22" name="Shape 20"/>
          <p:cNvSpPr/>
          <p:nvPr/>
        </p:nvSpPr>
        <p:spPr>
          <a:xfrm>
            <a:off x="868680" y="4709160"/>
            <a:ext cx="1783080" cy="979121"/>
          </a:xfrm>
          <a:prstGeom prst="roundRect">
            <a:avLst>
              <a:gd name="adj" fmla="val 4444"/>
            </a:avLst>
          </a:prstGeom>
          <a:solidFill>
            <a:srgbClr val="1C7293"/>
          </a:solidFill>
          <a:ln/>
        </p:spPr>
        <p:txBody>
          <a:bodyPr/>
          <a:lstStyle/>
          <a:p>
            <a:endParaRPr lang="en-US"/>
          </a:p>
        </p:txBody>
      </p:sp>
      <p:sp>
        <p:nvSpPr>
          <p:cNvPr id="23" name="Text 21"/>
          <p:cNvSpPr/>
          <p:nvPr/>
        </p:nvSpPr>
        <p:spPr>
          <a:xfrm>
            <a:off x="914400" y="48920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Raw EEG</a:t>
            </a:r>
            <a:endParaRPr lang="en-US" sz="1200" dirty="0"/>
          </a:p>
        </p:txBody>
      </p:sp>
      <p:sp>
        <p:nvSpPr>
          <p:cNvPr id="24" name="Text 22"/>
          <p:cNvSpPr/>
          <p:nvPr/>
        </p:nvSpPr>
        <p:spPr>
          <a:xfrm>
            <a:off x="981456" y="5130141"/>
            <a:ext cx="1600200" cy="502920"/>
          </a:xfrm>
          <a:prstGeom prst="rect">
            <a:avLst/>
          </a:prstGeom>
          <a:noFill/>
          <a:ln/>
        </p:spPr>
        <p:txBody>
          <a:bodyPr wrap="square" lIns="0" tIns="0" rIns="0" bIns="0" rtlCol="0" anchor="ctr"/>
          <a:lstStyle/>
          <a:p>
            <a:pPr marL="0" indent="0" algn="ctr">
              <a:lnSpc>
                <a:spcPct val="100000"/>
              </a:lnSpc>
              <a:buNone/>
            </a:pPr>
            <a:r>
              <a:rPr lang="en-US" sz="900" dirty="0">
                <a:solidFill>
                  <a:srgbClr val="CADCFC"/>
                </a:solidFill>
                <a:latin typeface="Calibri" pitchFamily="34" charset="0"/>
                <a:ea typeface="Calibri" pitchFamily="34" charset="-122"/>
                <a:cs typeface="Calibri" pitchFamily="34" charset="-120"/>
              </a:rPr>
              <a:t>1000 Hz · notch 50 · BP 100</a:t>
            </a:r>
            <a:endParaRPr lang="en-US" sz="900" dirty="0"/>
          </a:p>
        </p:txBody>
      </p:sp>
      <p:sp>
        <p:nvSpPr>
          <p:cNvPr id="25" name="Text 23"/>
          <p:cNvSpPr/>
          <p:nvPr/>
        </p:nvSpPr>
        <p:spPr>
          <a:xfrm>
            <a:off x="2624328" y="4937760"/>
            <a:ext cx="365760" cy="640080"/>
          </a:xfrm>
          <a:prstGeom prst="rect">
            <a:avLst/>
          </a:prstGeom>
          <a:noFill/>
          <a:ln/>
        </p:spPr>
        <p:txBody>
          <a:bodyPr wrap="square" lIns="0" tIns="0" rIns="0" bIns="0" rtlCol="0" anchor="ctr"/>
          <a:lstStyle/>
          <a:p>
            <a:pPr marL="0" indent="0" algn="ctr">
              <a:buNone/>
            </a:pPr>
            <a:r>
              <a:rPr lang="en-US" sz="2400" b="1" dirty="0">
                <a:solidFill>
                  <a:srgbClr val="64748B"/>
                </a:solidFill>
                <a:latin typeface="Calibri" pitchFamily="34" charset="0"/>
                <a:ea typeface="Calibri" pitchFamily="34" charset="-122"/>
                <a:cs typeface="Calibri" pitchFamily="34" charset="-120"/>
              </a:rPr>
              <a:t>›</a:t>
            </a:r>
            <a:endParaRPr lang="en-US" sz="2400" dirty="0"/>
          </a:p>
        </p:txBody>
      </p:sp>
      <p:sp>
        <p:nvSpPr>
          <p:cNvPr id="26" name="Shape 24"/>
          <p:cNvSpPr/>
          <p:nvPr/>
        </p:nvSpPr>
        <p:spPr>
          <a:xfrm>
            <a:off x="3008376" y="4709160"/>
            <a:ext cx="1783080" cy="979121"/>
          </a:xfrm>
          <a:prstGeom prst="roundRect">
            <a:avLst>
              <a:gd name="adj" fmla="val 4444"/>
            </a:avLst>
          </a:prstGeom>
          <a:solidFill>
            <a:srgbClr val="065A82"/>
          </a:solidFill>
          <a:ln/>
        </p:spPr>
        <p:txBody>
          <a:bodyPr/>
          <a:lstStyle/>
          <a:p>
            <a:endParaRPr lang="en-US"/>
          </a:p>
        </p:txBody>
      </p:sp>
      <p:sp>
        <p:nvSpPr>
          <p:cNvPr id="27" name="Text 25"/>
          <p:cNvSpPr/>
          <p:nvPr/>
        </p:nvSpPr>
        <p:spPr>
          <a:xfrm>
            <a:off x="3054096" y="4892040"/>
            <a:ext cx="1691640" cy="457200"/>
          </a:xfrm>
          <a:prstGeom prst="rect">
            <a:avLst/>
          </a:prstGeom>
          <a:noFill/>
          <a:ln/>
        </p:spPr>
        <p:txBody>
          <a:bodyPr wrap="square" lIns="0" tIns="0" rIns="0" bIns="0" rtlCol="0" anchor="ctr"/>
          <a:lstStyle/>
          <a:p>
            <a:pPr marL="0" indent="0" algn="ctr">
              <a:buNone/>
            </a:pPr>
            <a:r>
              <a:rPr lang="en-US" sz="1200" b="1" dirty="0" err="1">
                <a:solidFill>
                  <a:srgbClr val="FFFFFF"/>
                </a:solidFill>
                <a:latin typeface="Calibri" pitchFamily="34" charset="0"/>
                <a:ea typeface="Calibri" pitchFamily="34" charset="-122"/>
                <a:cs typeface="Calibri" pitchFamily="34" charset="-120"/>
              </a:rPr>
              <a:t>Downsample</a:t>
            </a:r>
            <a:r>
              <a:rPr lang="en-US" sz="1200" b="1" dirty="0">
                <a:solidFill>
                  <a:srgbClr val="FFFFFF"/>
                </a:solidFill>
                <a:latin typeface="Calibri" pitchFamily="34" charset="0"/>
                <a:ea typeface="Calibri" pitchFamily="34" charset="-122"/>
                <a:cs typeface="Calibri" pitchFamily="34" charset="-120"/>
              </a:rPr>
              <a:t> ÷4</a:t>
            </a:r>
            <a:endParaRPr lang="en-US" sz="1200" dirty="0"/>
          </a:p>
        </p:txBody>
      </p:sp>
      <p:sp>
        <p:nvSpPr>
          <p:cNvPr id="28" name="Text 26"/>
          <p:cNvSpPr/>
          <p:nvPr/>
        </p:nvSpPr>
        <p:spPr>
          <a:xfrm>
            <a:off x="3121152" y="5130141"/>
            <a:ext cx="1600200" cy="502920"/>
          </a:xfrm>
          <a:prstGeom prst="rect">
            <a:avLst/>
          </a:prstGeom>
          <a:noFill/>
          <a:ln/>
        </p:spPr>
        <p:txBody>
          <a:bodyPr wrap="square" lIns="0" tIns="0" rIns="0" bIns="0" rtlCol="0" anchor="ctr"/>
          <a:lstStyle/>
          <a:p>
            <a:pPr marL="0" indent="0" algn="ctr">
              <a:lnSpc>
                <a:spcPct val="100000"/>
              </a:lnSpc>
              <a:buNone/>
            </a:pPr>
            <a:r>
              <a:rPr lang="en-US" sz="900" dirty="0">
                <a:solidFill>
                  <a:srgbClr val="CADCFC"/>
                </a:solidFill>
                <a:latin typeface="Calibri" pitchFamily="34" charset="0"/>
                <a:ea typeface="Calibri" pitchFamily="34" charset="-122"/>
                <a:cs typeface="Calibri" pitchFamily="34" charset="-120"/>
              </a:rPr>
              <a:t>→ 250 Hz, anti-aliased</a:t>
            </a:r>
            <a:endParaRPr lang="en-US" sz="900" dirty="0"/>
          </a:p>
        </p:txBody>
      </p:sp>
      <p:sp>
        <p:nvSpPr>
          <p:cNvPr id="29" name="Text 27"/>
          <p:cNvSpPr/>
          <p:nvPr/>
        </p:nvSpPr>
        <p:spPr>
          <a:xfrm>
            <a:off x="4764024" y="4937760"/>
            <a:ext cx="365760" cy="640080"/>
          </a:xfrm>
          <a:prstGeom prst="rect">
            <a:avLst/>
          </a:prstGeom>
          <a:noFill/>
          <a:ln/>
        </p:spPr>
        <p:txBody>
          <a:bodyPr wrap="square" lIns="0" tIns="0" rIns="0" bIns="0" rtlCol="0" anchor="ctr"/>
          <a:lstStyle/>
          <a:p>
            <a:pPr marL="0" indent="0" algn="ctr">
              <a:buNone/>
            </a:pPr>
            <a:r>
              <a:rPr lang="en-US" sz="2400" b="1" dirty="0">
                <a:solidFill>
                  <a:srgbClr val="64748B"/>
                </a:solidFill>
                <a:latin typeface="Calibri" pitchFamily="34" charset="0"/>
                <a:ea typeface="Calibri" pitchFamily="34" charset="-122"/>
                <a:cs typeface="Calibri" pitchFamily="34" charset="-120"/>
              </a:rPr>
              <a:t>›</a:t>
            </a:r>
            <a:endParaRPr lang="en-US" sz="2400" dirty="0"/>
          </a:p>
        </p:txBody>
      </p:sp>
      <p:sp>
        <p:nvSpPr>
          <p:cNvPr id="30" name="Shape 28"/>
          <p:cNvSpPr/>
          <p:nvPr/>
        </p:nvSpPr>
        <p:spPr>
          <a:xfrm>
            <a:off x="5148072" y="4709160"/>
            <a:ext cx="1783080" cy="979121"/>
          </a:xfrm>
          <a:prstGeom prst="roundRect">
            <a:avLst>
              <a:gd name="adj" fmla="val 4444"/>
            </a:avLst>
          </a:prstGeom>
          <a:solidFill>
            <a:srgbClr val="1C7293"/>
          </a:solidFill>
          <a:ln/>
        </p:spPr>
        <p:txBody>
          <a:bodyPr/>
          <a:lstStyle/>
          <a:p>
            <a:endParaRPr lang="en-US"/>
          </a:p>
        </p:txBody>
      </p:sp>
      <p:sp>
        <p:nvSpPr>
          <p:cNvPr id="31" name="Text 29"/>
          <p:cNvSpPr/>
          <p:nvPr/>
        </p:nvSpPr>
        <p:spPr>
          <a:xfrm>
            <a:off x="5193792" y="48920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Epoch</a:t>
            </a:r>
            <a:endParaRPr lang="en-US" sz="1200" dirty="0"/>
          </a:p>
        </p:txBody>
      </p:sp>
      <p:sp>
        <p:nvSpPr>
          <p:cNvPr id="32" name="Text 30"/>
          <p:cNvSpPr/>
          <p:nvPr/>
        </p:nvSpPr>
        <p:spPr>
          <a:xfrm>
            <a:off x="5260848" y="5130141"/>
            <a:ext cx="1600200" cy="502920"/>
          </a:xfrm>
          <a:prstGeom prst="rect">
            <a:avLst/>
          </a:prstGeom>
          <a:noFill/>
          <a:ln/>
        </p:spPr>
        <p:txBody>
          <a:bodyPr wrap="square" lIns="0" tIns="0" rIns="0" bIns="0" rtlCol="0" anchor="ctr"/>
          <a:lstStyle/>
          <a:p>
            <a:pPr marL="0" indent="0" algn="ctr">
              <a:lnSpc>
                <a:spcPct val="100000"/>
              </a:lnSpc>
              <a:buNone/>
            </a:pPr>
            <a:r>
              <a:rPr lang="en-US" sz="900" dirty="0">
                <a:solidFill>
                  <a:srgbClr val="CADCFC"/>
                </a:solidFill>
                <a:latin typeface="Calibri" pitchFamily="34" charset="0"/>
                <a:ea typeface="Calibri" pitchFamily="34" charset="-122"/>
                <a:cs typeface="Calibri" pitchFamily="34" charset="-120"/>
              </a:rPr>
              <a:t>stimulus-locked</a:t>
            </a:r>
            <a:endParaRPr lang="en-US" sz="900" dirty="0"/>
          </a:p>
        </p:txBody>
      </p:sp>
      <p:sp>
        <p:nvSpPr>
          <p:cNvPr id="33" name="Text 31"/>
          <p:cNvSpPr/>
          <p:nvPr/>
        </p:nvSpPr>
        <p:spPr>
          <a:xfrm>
            <a:off x="6903720" y="4937760"/>
            <a:ext cx="365760" cy="640080"/>
          </a:xfrm>
          <a:prstGeom prst="rect">
            <a:avLst/>
          </a:prstGeom>
          <a:noFill/>
          <a:ln/>
        </p:spPr>
        <p:txBody>
          <a:bodyPr wrap="square" lIns="0" tIns="0" rIns="0" bIns="0" rtlCol="0" anchor="ctr"/>
          <a:lstStyle/>
          <a:p>
            <a:pPr marL="0" indent="0" algn="ctr">
              <a:buNone/>
            </a:pPr>
            <a:r>
              <a:rPr lang="en-US" sz="2400" b="1" dirty="0">
                <a:solidFill>
                  <a:srgbClr val="64748B"/>
                </a:solidFill>
                <a:latin typeface="Calibri" pitchFamily="34" charset="0"/>
                <a:ea typeface="Calibri" pitchFamily="34" charset="-122"/>
                <a:cs typeface="Calibri" pitchFamily="34" charset="-120"/>
              </a:rPr>
              <a:t>›</a:t>
            </a:r>
            <a:endParaRPr lang="en-US" sz="2400" dirty="0"/>
          </a:p>
        </p:txBody>
      </p:sp>
      <p:sp>
        <p:nvSpPr>
          <p:cNvPr id="34" name="Shape 32"/>
          <p:cNvSpPr/>
          <p:nvPr/>
        </p:nvSpPr>
        <p:spPr>
          <a:xfrm>
            <a:off x="7287768" y="4709160"/>
            <a:ext cx="1783080" cy="979121"/>
          </a:xfrm>
          <a:prstGeom prst="roundRect">
            <a:avLst>
              <a:gd name="adj" fmla="val 4444"/>
            </a:avLst>
          </a:prstGeom>
          <a:solidFill>
            <a:srgbClr val="065A82"/>
          </a:solidFill>
          <a:ln/>
        </p:spPr>
        <p:txBody>
          <a:bodyPr/>
          <a:lstStyle/>
          <a:p>
            <a:endParaRPr lang="en-US"/>
          </a:p>
        </p:txBody>
      </p:sp>
      <p:sp>
        <p:nvSpPr>
          <p:cNvPr id="35" name="Text 33"/>
          <p:cNvSpPr/>
          <p:nvPr/>
        </p:nvSpPr>
        <p:spPr>
          <a:xfrm>
            <a:off x="7333488" y="48920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Crop window</a:t>
            </a:r>
            <a:endParaRPr lang="en-US" sz="1200" dirty="0"/>
          </a:p>
        </p:txBody>
      </p:sp>
      <p:sp>
        <p:nvSpPr>
          <p:cNvPr id="36" name="Text 34"/>
          <p:cNvSpPr/>
          <p:nvPr/>
        </p:nvSpPr>
        <p:spPr>
          <a:xfrm>
            <a:off x="7400544" y="5130141"/>
            <a:ext cx="1600200" cy="502920"/>
          </a:xfrm>
          <a:prstGeom prst="rect">
            <a:avLst/>
          </a:prstGeom>
          <a:noFill/>
          <a:ln/>
        </p:spPr>
        <p:txBody>
          <a:bodyPr wrap="square" lIns="0" tIns="0" rIns="0" bIns="0" rtlCol="0" anchor="ctr"/>
          <a:lstStyle/>
          <a:p>
            <a:pPr marL="0" indent="0" algn="ctr">
              <a:lnSpc>
                <a:spcPct val="100000"/>
              </a:lnSpc>
              <a:buNone/>
            </a:pPr>
            <a:r>
              <a:rPr lang="en-US" sz="900" dirty="0">
                <a:solidFill>
                  <a:srgbClr val="CADCFC"/>
                </a:solidFill>
                <a:latin typeface="Calibri" pitchFamily="34" charset="0"/>
                <a:ea typeface="Calibri" pitchFamily="34" charset="-122"/>
                <a:cs typeface="Calibri" pitchFamily="34" charset="-120"/>
              </a:rPr>
              <a:t>−0.2 → +1.5 s</a:t>
            </a:r>
            <a:endParaRPr lang="en-US" sz="900" dirty="0"/>
          </a:p>
        </p:txBody>
      </p:sp>
      <p:sp>
        <p:nvSpPr>
          <p:cNvPr id="37" name="Text 35"/>
          <p:cNvSpPr/>
          <p:nvPr/>
        </p:nvSpPr>
        <p:spPr>
          <a:xfrm>
            <a:off x="9043416" y="4937760"/>
            <a:ext cx="365760" cy="640080"/>
          </a:xfrm>
          <a:prstGeom prst="rect">
            <a:avLst/>
          </a:prstGeom>
          <a:noFill/>
          <a:ln/>
        </p:spPr>
        <p:txBody>
          <a:bodyPr wrap="square" lIns="0" tIns="0" rIns="0" bIns="0" rtlCol="0" anchor="ctr"/>
          <a:lstStyle/>
          <a:p>
            <a:pPr marL="0" indent="0" algn="ctr">
              <a:buNone/>
            </a:pPr>
            <a:r>
              <a:rPr lang="en-US" sz="2400" b="1" dirty="0">
                <a:solidFill>
                  <a:srgbClr val="64748B"/>
                </a:solidFill>
                <a:latin typeface="Calibri" pitchFamily="34" charset="0"/>
                <a:ea typeface="Calibri" pitchFamily="34" charset="-122"/>
                <a:cs typeface="Calibri" pitchFamily="34" charset="-120"/>
              </a:rPr>
              <a:t>›</a:t>
            </a:r>
            <a:endParaRPr lang="en-US" sz="2400" dirty="0"/>
          </a:p>
        </p:txBody>
      </p:sp>
      <p:sp>
        <p:nvSpPr>
          <p:cNvPr id="38" name="Shape 36"/>
          <p:cNvSpPr/>
          <p:nvPr/>
        </p:nvSpPr>
        <p:spPr>
          <a:xfrm>
            <a:off x="9427464" y="4709160"/>
            <a:ext cx="1783080" cy="979121"/>
          </a:xfrm>
          <a:prstGeom prst="roundRect">
            <a:avLst>
              <a:gd name="adj" fmla="val 4444"/>
            </a:avLst>
          </a:prstGeom>
          <a:solidFill>
            <a:srgbClr val="1C7293"/>
          </a:solidFill>
          <a:ln/>
        </p:spPr>
        <p:txBody>
          <a:bodyPr/>
          <a:lstStyle/>
          <a:p>
            <a:endParaRPr lang="en-US"/>
          </a:p>
        </p:txBody>
      </p:sp>
      <p:sp>
        <p:nvSpPr>
          <p:cNvPr id="39" name="Text 37"/>
          <p:cNvSpPr/>
          <p:nvPr/>
        </p:nvSpPr>
        <p:spPr>
          <a:xfrm>
            <a:off x="9473184" y="48920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Label scheme</a:t>
            </a:r>
            <a:endParaRPr lang="en-US" sz="1200" dirty="0"/>
          </a:p>
        </p:txBody>
      </p:sp>
      <p:sp>
        <p:nvSpPr>
          <p:cNvPr id="40" name="Text 38"/>
          <p:cNvSpPr/>
          <p:nvPr/>
        </p:nvSpPr>
        <p:spPr>
          <a:xfrm>
            <a:off x="9540240" y="5130141"/>
            <a:ext cx="1600200" cy="502920"/>
          </a:xfrm>
          <a:prstGeom prst="rect">
            <a:avLst/>
          </a:prstGeom>
          <a:noFill/>
          <a:ln/>
        </p:spPr>
        <p:txBody>
          <a:bodyPr wrap="square" lIns="0" tIns="0" rIns="0" bIns="0" rtlCol="0" anchor="ctr"/>
          <a:lstStyle/>
          <a:p>
            <a:pPr marL="0" indent="0" algn="ctr">
              <a:lnSpc>
                <a:spcPct val="100000"/>
              </a:lnSpc>
              <a:buNone/>
            </a:pPr>
            <a:r>
              <a:rPr lang="en-US" sz="900" dirty="0">
                <a:solidFill>
                  <a:srgbClr val="CADCFC"/>
                </a:solidFill>
                <a:latin typeface="Calibri" pitchFamily="34" charset="0"/>
                <a:ea typeface="Calibri" pitchFamily="34" charset="-122"/>
                <a:cs typeface="Calibri" pitchFamily="34" charset="-120"/>
              </a:rPr>
              <a:t>3-class / 4-class</a:t>
            </a:r>
            <a:endParaRPr lang="en-US" sz="900" dirty="0"/>
          </a:p>
        </p:txBody>
      </p:sp>
      <p:sp>
        <p:nvSpPr>
          <p:cNvPr id="41" name="Text 19">
            <a:extLst>
              <a:ext uri="{FF2B5EF4-FFF2-40B4-BE49-F238E27FC236}">
                <a16:creationId xmlns:a16="http://schemas.microsoft.com/office/drawing/2014/main" id="{A27D66E4-6F94-283D-DD42-91A906A21BBE}"/>
              </a:ext>
            </a:extLst>
          </p:cNvPr>
          <p:cNvSpPr/>
          <p:nvPr/>
        </p:nvSpPr>
        <p:spPr>
          <a:xfrm>
            <a:off x="868680" y="5806440"/>
            <a:ext cx="10058400" cy="365760"/>
          </a:xfrm>
          <a:prstGeom prst="rect">
            <a:avLst/>
          </a:prstGeom>
          <a:noFill/>
          <a:ln/>
        </p:spPr>
        <p:txBody>
          <a:bodyPr wrap="square" lIns="0" tIns="0" rIns="0" bIns="0" rtlCol="0" anchor="ctr"/>
          <a:lstStyle/>
          <a:p>
            <a:pPr marL="0" indent="0">
              <a:buNone/>
            </a:pPr>
            <a:r>
              <a:rPr lang="en-US" sz="1700" dirty="0">
                <a:solidFill>
                  <a:srgbClr val="21295C"/>
                </a:solidFill>
                <a:latin typeface="Cambria" pitchFamily="34" charset="0"/>
                <a:ea typeface="Cambria" pitchFamily="34" charset="-122"/>
                <a:cs typeface="Cambria" pitchFamily="34" charset="-120"/>
              </a:rPr>
              <a:t>**Note: 31 subjects were recorded, but subjects 10 and 24 have been removed from training sets.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a:effectLst/>
      </p:bgPr>
    </p:bg>
    <p:spTree>
      <p:nvGrpSpPr>
        <p:cNvPr id="1" name=""/>
        <p:cNvGrpSpPr/>
        <p:nvPr/>
      </p:nvGrpSpPr>
      <p:grpSpPr>
        <a:xfrm>
          <a:off x="0" y="0"/>
          <a:ext cx="0" cy="0"/>
          <a:chOff x="0" y="0"/>
          <a:chExt cx="0" cy="0"/>
        </a:xfrm>
      </p:grpSpPr>
      <p:sp>
        <p:nvSpPr>
          <p:cNvPr id="3" name="Text 1"/>
          <p:cNvSpPr/>
          <p:nvPr/>
        </p:nvSpPr>
        <p:spPr>
          <a:xfrm>
            <a:off x="731520" y="228600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Part 1: </a:t>
            </a:r>
            <a:r>
              <a:rPr lang="en-US" sz="4400" b="1" dirty="0" err="1">
                <a:solidFill>
                  <a:srgbClr val="FFFFFF"/>
                </a:solidFill>
                <a:latin typeface="Cambria" pitchFamily="34" charset="0"/>
                <a:ea typeface="Cambria" pitchFamily="34" charset="-122"/>
                <a:cs typeface="Cambria" pitchFamily="34" charset="-120"/>
              </a:rPr>
              <a:t>EEGNet</a:t>
            </a:r>
            <a:endParaRPr lang="en-US" sz="4400" dirty="0"/>
          </a:p>
        </p:txBody>
      </p:sp>
      <p:sp>
        <p:nvSpPr>
          <p:cNvPr id="4" name="Text 2"/>
          <p:cNvSpPr/>
          <p:nvPr/>
        </p:nvSpPr>
        <p:spPr>
          <a:xfrm>
            <a:off x="777240" y="3337560"/>
            <a:ext cx="10058400" cy="548640"/>
          </a:xfrm>
          <a:prstGeom prst="rect">
            <a:avLst/>
          </a:prstGeom>
          <a:noFill/>
          <a:ln/>
        </p:spPr>
        <p:txBody>
          <a:bodyPr wrap="square" lIns="0" tIns="0" rIns="0" bIns="0" rtlCol="0" anchor="ctr"/>
          <a:lstStyle/>
          <a:p>
            <a:pPr marL="0" indent="0">
              <a:buNone/>
            </a:pPr>
            <a:r>
              <a:rPr lang="en-US" sz="1700" dirty="0">
                <a:solidFill>
                  <a:srgbClr val="CADCFC"/>
                </a:solidFill>
                <a:latin typeface="Calibri" pitchFamily="34" charset="0"/>
                <a:ea typeface="Calibri" pitchFamily="34" charset="-122"/>
                <a:cs typeface="Calibri" pitchFamily="34" charset="-120"/>
              </a:rPr>
              <a:t>A compact convolutional network learning its own filters from raw EEG</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EEGNET · 3-CLASS</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Network, setup, and performance</a:t>
            </a:r>
            <a:endParaRPr lang="en-US" sz="3000" dirty="0"/>
          </a:p>
        </p:txBody>
      </p:sp>
      <p:sp>
        <p:nvSpPr>
          <p:cNvPr id="4" name="Shape 2"/>
          <p:cNvSpPr/>
          <p:nvPr/>
        </p:nvSpPr>
        <p:spPr>
          <a:xfrm>
            <a:off x="548640" y="1463040"/>
            <a:ext cx="4114800" cy="2788920"/>
          </a:xfrm>
          <a:prstGeom prst="roundRect">
            <a:avLst>
              <a:gd name="adj" fmla="val 2623"/>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5" name="Text 3"/>
          <p:cNvSpPr/>
          <p:nvPr/>
        </p:nvSpPr>
        <p:spPr>
          <a:xfrm>
            <a:off x="777240" y="1627632"/>
            <a:ext cx="36576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Architecture (EEGNet-8,2)</a:t>
            </a:r>
            <a:endParaRPr lang="en-US" sz="1500" dirty="0"/>
          </a:p>
        </p:txBody>
      </p:sp>
      <p:sp>
        <p:nvSpPr>
          <p:cNvPr id="6" name="Text 4"/>
          <p:cNvSpPr/>
          <p:nvPr/>
        </p:nvSpPr>
        <p:spPr>
          <a:xfrm>
            <a:off x="777240" y="2029968"/>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Input</a:t>
            </a:r>
            <a:endParaRPr lang="en-US" sz="1050" dirty="0"/>
          </a:p>
        </p:txBody>
      </p:sp>
      <p:sp>
        <p:nvSpPr>
          <p:cNvPr id="7" name="Text 5"/>
          <p:cNvSpPr/>
          <p:nvPr/>
        </p:nvSpPr>
        <p:spPr>
          <a:xfrm>
            <a:off x="2468880" y="2029968"/>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60 ch × T samples × 1</a:t>
            </a:r>
            <a:endParaRPr lang="en-US" sz="1050" dirty="0"/>
          </a:p>
        </p:txBody>
      </p:sp>
      <p:sp>
        <p:nvSpPr>
          <p:cNvPr id="8" name="Text 6"/>
          <p:cNvSpPr/>
          <p:nvPr/>
        </p:nvSpPr>
        <p:spPr>
          <a:xfrm>
            <a:off x="777240" y="2336292"/>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Temporal conv</a:t>
            </a:r>
            <a:endParaRPr lang="en-US" sz="1050" dirty="0"/>
          </a:p>
        </p:txBody>
      </p:sp>
      <p:sp>
        <p:nvSpPr>
          <p:cNvPr id="9" name="Text 7"/>
          <p:cNvSpPr/>
          <p:nvPr/>
        </p:nvSpPr>
        <p:spPr>
          <a:xfrm>
            <a:off x="2468880" y="2336292"/>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F1 = 8 filters, kernel 500 ms</a:t>
            </a:r>
            <a:endParaRPr lang="en-US" sz="1050" dirty="0"/>
          </a:p>
        </p:txBody>
      </p:sp>
      <p:sp>
        <p:nvSpPr>
          <p:cNvPr id="10" name="Text 8"/>
          <p:cNvSpPr/>
          <p:nvPr/>
        </p:nvSpPr>
        <p:spPr>
          <a:xfrm>
            <a:off x="777240" y="2642616"/>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Depthwise conv</a:t>
            </a:r>
            <a:endParaRPr lang="en-US" sz="1050" dirty="0"/>
          </a:p>
        </p:txBody>
      </p:sp>
      <p:sp>
        <p:nvSpPr>
          <p:cNvPr id="11" name="Text 9"/>
          <p:cNvSpPr/>
          <p:nvPr/>
        </p:nvSpPr>
        <p:spPr>
          <a:xfrm>
            <a:off x="2468880" y="2642616"/>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 = 2 (spatial, per-channel)</a:t>
            </a:r>
            <a:endParaRPr lang="en-US" sz="1050" dirty="0"/>
          </a:p>
        </p:txBody>
      </p:sp>
      <p:sp>
        <p:nvSpPr>
          <p:cNvPr id="12" name="Text 10"/>
          <p:cNvSpPr/>
          <p:nvPr/>
        </p:nvSpPr>
        <p:spPr>
          <a:xfrm>
            <a:off x="777240" y="2948940"/>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Separable conv</a:t>
            </a:r>
            <a:endParaRPr lang="en-US" sz="1050" dirty="0"/>
          </a:p>
        </p:txBody>
      </p:sp>
      <p:sp>
        <p:nvSpPr>
          <p:cNvPr id="13" name="Text 11"/>
          <p:cNvSpPr/>
          <p:nvPr/>
        </p:nvSpPr>
        <p:spPr>
          <a:xfrm>
            <a:off x="2468880" y="2948940"/>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F2 = 16 filters</a:t>
            </a:r>
            <a:endParaRPr lang="en-US" sz="1050" dirty="0"/>
          </a:p>
        </p:txBody>
      </p:sp>
      <p:sp>
        <p:nvSpPr>
          <p:cNvPr id="14" name="Text 12"/>
          <p:cNvSpPr/>
          <p:nvPr/>
        </p:nvSpPr>
        <p:spPr>
          <a:xfrm>
            <a:off x="777240" y="3255264"/>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Pooling</a:t>
            </a:r>
            <a:endParaRPr lang="en-US" sz="1050" dirty="0"/>
          </a:p>
        </p:txBody>
      </p:sp>
      <p:sp>
        <p:nvSpPr>
          <p:cNvPr id="15" name="Text 13"/>
          <p:cNvSpPr/>
          <p:nvPr/>
        </p:nvSpPr>
        <p:spPr>
          <a:xfrm>
            <a:off x="2468880" y="3255264"/>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avg-pool ×4 then ×8</a:t>
            </a:r>
            <a:endParaRPr lang="en-US" sz="1050" dirty="0"/>
          </a:p>
        </p:txBody>
      </p:sp>
      <p:sp>
        <p:nvSpPr>
          <p:cNvPr id="16" name="Text 14"/>
          <p:cNvSpPr/>
          <p:nvPr/>
        </p:nvSpPr>
        <p:spPr>
          <a:xfrm>
            <a:off x="777240" y="3561588"/>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Dropout</a:t>
            </a:r>
            <a:endParaRPr lang="en-US" sz="1050" dirty="0"/>
          </a:p>
        </p:txBody>
      </p:sp>
      <p:sp>
        <p:nvSpPr>
          <p:cNvPr id="17" name="Text 15"/>
          <p:cNvSpPr/>
          <p:nvPr/>
        </p:nvSpPr>
        <p:spPr>
          <a:xfrm>
            <a:off x="2468880" y="3561588"/>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0.25 (cross) / 0.50 (within)</a:t>
            </a:r>
            <a:endParaRPr lang="en-US" sz="1050" dirty="0"/>
          </a:p>
        </p:txBody>
      </p:sp>
      <p:sp>
        <p:nvSpPr>
          <p:cNvPr id="18" name="Text 16"/>
          <p:cNvSpPr/>
          <p:nvPr/>
        </p:nvSpPr>
        <p:spPr>
          <a:xfrm>
            <a:off x="777240" y="3867912"/>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Head</a:t>
            </a:r>
            <a:endParaRPr lang="en-US" sz="1050" dirty="0"/>
          </a:p>
        </p:txBody>
      </p:sp>
      <p:sp>
        <p:nvSpPr>
          <p:cNvPr id="19" name="Text 17"/>
          <p:cNvSpPr/>
          <p:nvPr/>
        </p:nvSpPr>
        <p:spPr>
          <a:xfrm>
            <a:off x="2468880" y="3867912"/>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dense → softmax</a:t>
            </a:r>
            <a:endParaRPr lang="en-US" sz="1050" dirty="0"/>
          </a:p>
        </p:txBody>
      </p:sp>
      <p:sp>
        <p:nvSpPr>
          <p:cNvPr id="20" name="Shape 18"/>
          <p:cNvSpPr/>
          <p:nvPr/>
        </p:nvSpPr>
        <p:spPr>
          <a:xfrm>
            <a:off x="548640" y="4370831"/>
            <a:ext cx="4114800" cy="2103121"/>
          </a:xfrm>
          <a:prstGeom prst="roundRect">
            <a:avLst>
              <a:gd name="adj" fmla="val 381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21" name="Text 19"/>
          <p:cNvSpPr/>
          <p:nvPr/>
        </p:nvSpPr>
        <p:spPr>
          <a:xfrm>
            <a:off x="777240" y="4517136"/>
            <a:ext cx="3657600" cy="292608"/>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Training setup</a:t>
            </a:r>
            <a:endParaRPr lang="en-US" sz="1500" dirty="0"/>
          </a:p>
        </p:txBody>
      </p:sp>
      <p:sp>
        <p:nvSpPr>
          <p:cNvPr id="22" name="Text 20"/>
          <p:cNvSpPr/>
          <p:nvPr/>
        </p:nvSpPr>
        <p:spPr>
          <a:xfrm>
            <a:off x="777240" y="4919472"/>
            <a:ext cx="173736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Optimizer</a:t>
            </a:r>
            <a:endParaRPr lang="en-US" sz="1100" dirty="0"/>
          </a:p>
        </p:txBody>
      </p:sp>
      <p:sp>
        <p:nvSpPr>
          <p:cNvPr id="23" name="Text 21"/>
          <p:cNvSpPr/>
          <p:nvPr/>
        </p:nvSpPr>
        <p:spPr>
          <a:xfrm>
            <a:off x="2514600" y="4919472"/>
            <a:ext cx="196596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Adam, lr 1e-3, batch 32</a:t>
            </a:r>
            <a:endParaRPr lang="en-US" sz="1100" dirty="0"/>
          </a:p>
        </p:txBody>
      </p:sp>
      <p:sp>
        <p:nvSpPr>
          <p:cNvPr id="24" name="Text 22"/>
          <p:cNvSpPr/>
          <p:nvPr/>
        </p:nvSpPr>
        <p:spPr>
          <a:xfrm>
            <a:off x="777240" y="5193792"/>
            <a:ext cx="173736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Epochs</a:t>
            </a:r>
            <a:endParaRPr lang="en-US" sz="1100" dirty="0"/>
          </a:p>
        </p:txBody>
      </p:sp>
      <p:sp>
        <p:nvSpPr>
          <p:cNvPr id="25" name="Text 23"/>
          <p:cNvSpPr/>
          <p:nvPr/>
        </p:nvSpPr>
        <p:spPr>
          <a:xfrm>
            <a:off x="2514600" y="5193792"/>
            <a:ext cx="196596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up to 500, early-stop pat. 50</a:t>
            </a:r>
            <a:endParaRPr lang="en-US" sz="1100" dirty="0"/>
          </a:p>
        </p:txBody>
      </p:sp>
      <p:sp>
        <p:nvSpPr>
          <p:cNvPr id="26" name="Text 24"/>
          <p:cNvSpPr/>
          <p:nvPr/>
        </p:nvSpPr>
        <p:spPr>
          <a:xfrm>
            <a:off x="777240" y="5468112"/>
            <a:ext cx="173736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LR schedule</a:t>
            </a:r>
            <a:endParaRPr lang="en-US" sz="1100" dirty="0"/>
          </a:p>
        </p:txBody>
      </p:sp>
      <p:sp>
        <p:nvSpPr>
          <p:cNvPr id="27" name="Text 25"/>
          <p:cNvSpPr/>
          <p:nvPr/>
        </p:nvSpPr>
        <p:spPr>
          <a:xfrm>
            <a:off x="2514600" y="5468112"/>
            <a:ext cx="196596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halve on plateau (pat. 20)</a:t>
            </a:r>
            <a:endParaRPr lang="en-US" sz="1100" dirty="0"/>
          </a:p>
        </p:txBody>
      </p:sp>
      <p:sp>
        <p:nvSpPr>
          <p:cNvPr id="28" name="Text 26"/>
          <p:cNvSpPr/>
          <p:nvPr/>
        </p:nvSpPr>
        <p:spPr>
          <a:xfrm>
            <a:off x="777240" y="5742432"/>
            <a:ext cx="173736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Class weights</a:t>
            </a:r>
            <a:endParaRPr lang="en-US" sz="1100" dirty="0"/>
          </a:p>
        </p:txBody>
      </p:sp>
      <p:sp>
        <p:nvSpPr>
          <p:cNvPr id="29" name="Text 27"/>
          <p:cNvSpPr/>
          <p:nvPr/>
        </p:nvSpPr>
        <p:spPr>
          <a:xfrm>
            <a:off x="2514600" y="5742432"/>
            <a:ext cx="196596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balanced</a:t>
            </a:r>
            <a:endParaRPr lang="en-US" sz="1100" dirty="0"/>
          </a:p>
        </p:txBody>
      </p:sp>
      <p:sp>
        <p:nvSpPr>
          <p:cNvPr id="30" name="Text 28"/>
          <p:cNvSpPr/>
          <p:nvPr/>
        </p:nvSpPr>
        <p:spPr>
          <a:xfrm>
            <a:off x="777240" y="6016752"/>
            <a:ext cx="173736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Scaler / seed</a:t>
            </a:r>
            <a:endParaRPr lang="en-US" sz="1100" dirty="0"/>
          </a:p>
        </p:txBody>
      </p:sp>
      <p:sp>
        <p:nvSpPr>
          <p:cNvPr id="31" name="Text 29"/>
          <p:cNvSpPr/>
          <p:nvPr/>
        </p:nvSpPr>
        <p:spPr>
          <a:xfrm>
            <a:off x="2514600" y="6016752"/>
            <a:ext cx="196596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per-channel z-score · 42</a:t>
            </a:r>
            <a:endParaRPr lang="en-US" sz="1100" dirty="0"/>
          </a:p>
        </p:txBody>
      </p:sp>
      <p:sp>
        <p:nvSpPr>
          <p:cNvPr id="32" name="Shape 30"/>
          <p:cNvSpPr/>
          <p:nvPr/>
        </p:nvSpPr>
        <p:spPr>
          <a:xfrm>
            <a:off x="4892040" y="1463040"/>
            <a:ext cx="3200400" cy="2331720"/>
          </a:xfrm>
          <a:prstGeom prst="roundRect">
            <a:avLst>
              <a:gd name="adj" fmla="val 3137"/>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33" name="Image 0" descr="assets/eeg_3c.png"/>
          <p:cNvPicPr>
            <a:picLocks noChangeAspect="1"/>
          </p:cNvPicPr>
          <p:nvPr/>
        </p:nvPicPr>
        <p:blipFill>
          <a:blip r:embed="rId3"/>
          <a:stretch>
            <a:fillRect/>
          </a:stretch>
        </p:blipFill>
        <p:spPr>
          <a:xfrm>
            <a:off x="4983480" y="1554480"/>
            <a:ext cx="3017520" cy="2148840"/>
          </a:xfrm>
          <a:prstGeom prst="rect">
            <a:avLst/>
          </a:prstGeom>
        </p:spPr>
      </p:pic>
      <p:sp>
        <p:nvSpPr>
          <p:cNvPr id="34" name="Shape 31"/>
          <p:cNvSpPr/>
          <p:nvPr/>
        </p:nvSpPr>
        <p:spPr>
          <a:xfrm>
            <a:off x="8321040" y="1463040"/>
            <a:ext cx="3291840" cy="2331720"/>
          </a:xfrm>
          <a:prstGeom prst="roundRect">
            <a:avLst>
              <a:gd name="adj" fmla="val 3137"/>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35" name="Image 1" descr="assets/eeg_conf_3c.png"/>
          <p:cNvPicPr>
            <a:picLocks noChangeAspect="1"/>
          </p:cNvPicPr>
          <p:nvPr/>
        </p:nvPicPr>
        <p:blipFill>
          <a:blip r:embed="rId4"/>
          <a:stretch>
            <a:fillRect/>
          </a:stretch>
        </p:blipFill>
        <p:spPr>
          <a:xfrm>
            <a:off x="8412480" y="1517904"/>
            <a:ext cx="3108960" cy="2212848"/>
          </a:xfrm>
          <a:prstGeom prst="rect">
            <a:avLst/>
          </a:prstGeom>
        </p:spPr>
      </p:pic>
      <p:sp>
        <p:nvSpPr>
          <p:cNvPr id="36" name="Shape 32"/>
          <p:cNvSpPr/>
          <p:nvPr/>
        </p:nvSpPr>
        <p:spPr>
          <a:xfrm>
            <a:off x="4892040" y="3977640"/>
            <a:ext cx="6720840" cy="2496312"/>
          </a:xfrm>
          <a:prstGeom prst="roundRect">
            <a:avLst>
              <a:gd name="adj" fmla="val 3162"/>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37" name="Text 33"/>
          <p:cNvSpPr/>
          <p:nvPr/>
        </p:nvSpPr>
        <p:spPr>
          <a:xfrm>
            <a:off x="5120640" y="4114800"/>
            <a:ext cx="6400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Results &amp; reading</a:t>
            </a:r>
            <a:endParaRPr lang="en-US" sz="1500" dirty="0"/>
          </a:p>
        </p:txBody>
      </p:sp>
      <p:sp>
        <p:nvSpPr>
          <p:cNvPr id="38" name="Text 34"/>
          <p:cNvSpPr/>
          <p:nvPr/>
        </p:nvSpPr>
        <p:spPr>
          <a:xfrm>
            <a:off x="5074920" y="4526280"/>
            <a:ext cx="1554480" cy="566928"/>
          </a:xfrm>
          <a:prstGeom prst="rect">
            <a:avLst/>
          </a:prstGeom>
          <a:noFill/>
          <a:ln/>
        </p:spPr>
        <p:txBody>
          <a:bodyPr wrap="square" lIns="0" tIns="0" rIns="0" bIns="0" rtlCol="0" anchor="ctr"/>
          <a:lstStyle/>
          <a:p>
            <a:pPr marL="0" indent="0" algn="ctr">
              <a:buNone/>
            </a:pPr>
            <a:r>
              <a:rPr lang="en-US" sz="3400" b="1" dirty="0">
                <a:solidFill>
                  <a:srgbClr val="1C7293"/>
                </a:solidFill>
                <a:latin typeface="Cambria" pitchFamily="34" charset="0"/>
                <a:ea typeface="Cambria" pitchFamily="34" charset="-122"/>
                <a:cs typeface="Cambria" pitchFamily="34" charset="-120"/>
              </a:rPr>
              <a:t>63.4%</a:t>
            </a:r>
            <a:endParaRPr lang="en-US" sz="3400" dirty="0"/>
          </a:p>
        </p:txBody>
      </p:sp>
      <p:sp>
        <p:nvSpPr>
          <p:cNvPr id="39" name="Text 35"/>
          <p:cNvSpPr/>
          <p:nvPr/>
        </p:nvSpPr>
        <p:spPr>
          <a:xfrm>
            <a:off x="5074920" y="5074920"/>
            <a:ext cx="155448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within-subject</a:t>
            </a:r>
            <a:endParaRPr lang="en-US" sz="1100" dirty="0"/>
          </a:p>
        </p:txBody>
      </p:sp>
      <p:sp>
        <p:nvSpPr>
          <p:cNvPr id="40" name="Text 36"/>
          <p:cNvSpPr/>
          <p:nvPr/>
        </p:nvSpPr>
        <p:spPr>
          <a:xfrm>
            <a:off x="6720840" y="4526280"/>
            <a:ext cx="1554480" cy="566928"/>
          </a:xfrm>
          <a:prstGeom prst="rect">
            <a:avLst/>
          </a:prstGeom>
          <a:noFill/>
          <a:ln/>
        </p:spPr>
        <p:txBody>
          <a:bodyPr wrap="square" lIns="0" tIns="0" rIns="0" bIns="0" rtlCol="0" anchor="ctr"/>
          <a:lstStyle/>
          <a:p>
            <a:pPr marL="0" indent="0" algn="ctr">
              <a:buNone/>
            </a:pPr>
            <a:r>
              <a:rPr lang="en-US" sz="3400" b="1" dirty="0">
                <a:solidFill>
                  <a:srgbClr val="21295C"/>
                </a:solidFill>
                <a:latin typeface="Cambria" pitchFamily="34" charset="0"/>
                <a:ea typeface="Cambria" pitchFamily="34" charset="-122"/>
                <a:cs typeface="Cambria" pitchFamily="34" charset="-120"/>
              </a:rPr>
              <a:t>59.8%</a:t>
            </a:r>
            <a:endParaRPr lang="en-US" sz="3400" dirty="0"/>
          </a:p>
        </p:txBody>
      </p:sp>
      <p:sp>
        <p:nvSpPr>
          <p:cNvPr id="41" name="Text 37"/>
          <p:cNvSpPr/>
          <p:nvPr/>
        </p:nvSpPr>
        <p:spPr>
          <a:xfrm>
            <a:off x="6720840" y="5074920"/>
            <a:ext cx="155448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LOSO</a:t>
            </a:r>
            <a:endParaRPr lang="en-US" sz="1100" dirty="0"/>
          </a:p>
        </p:txBody>
      </p:sp>
      <p:sp>
        <p:nvSpPr>
          <p:cNvPr id="42" name="Text 38"/>
          <p:cNvSpPr/>
          <p:nvPr/>
        </p:nvSpPr>
        <p:spPr>
          <a:xfrm>
            <a:off x="8366760" y="4526280"/>
            <a:ext cx="1554480" cy="566928"/>
          </a:xfrm>
          <a:prstGeom prst="rect">
            <a:avLst/>
          </a:prstGeom>
          <a:noFill/>
          <a:ln/>
        </p:spPr>
        <p:txBody>
          <a:bodyPr wrap="square" lIns="0" tIns="0" rIns="0" bIns="0" rtlCol="0" anchor="ctr"/>
          <a:lstStyle/>
          <a:p>
            <a:pPr marL="0" indent="0" algn="ctr">
              <a:buNone/>
            </a:pPr>
            <a:r>
              <a:rPr lang="en-US" sz="3400" b="1" dirty="0">
                <a:solidFill>
                  <a:srgbClr val="B85042"/>
                </a:solidFill>
                <a:latin typeface="Cambria" pitchFamily="34" charset="0"/>
                <a:ea typeface="Cambria" pitchFamily="34" charset="-122"/>
                <a:cs typeface="Cambria" pitchFamily="34" charset="-120"/>
              </a:rPr>
              <a:t>1.79×</a:t>
            </a:r>
            <a:endParaRPr lang="en-US" sz="3400" dirty="0"/>
          </a:p>
        </p:txBody>
      </p:sp>
      <p:sp>
        <p:nvSpPr>
          <p:cNvPr id="43" name="Text 39"/>
          <p:cNvSpPr/>
          <p:nvPr/>
        </p:nvSpPr>
        <p:spPr>
          <a:xfrm>
            <a:off x="8366760" y="5074920"/>
            <a:ext cx="155448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vs chance (33%)</a:t>
            </a:r>
            <a:endParaRPr lang="en-US" sz="1100" dirty="0"/>
          </a:p>
        </p:txBody>
      </p:sp>
      <p:sp>
        <p:nvSpPr>
          <p:cNvPr id="44" name="Text 40"/>
          <p:cNvSpPr/>
          <p:nvPr/>
        </p:nvSpPr>
        <p:spPr>
          <a:xfrm>
            <a:off x="10058400" y="4526280"/>
            <a:ext cx="1417320" cy="1645920"/>
          </a:xfrm>
          <a:prstGeom prst="rect">
            <a:avLst/>
          </a:prstGeom>
          <a:noFill/>
          <a:ln/>
        </p:spPr>
        <p:txBody>
          <a:bodyPr wrap="square" lIns="0" tIns="0" rIns="0" bIns="0" rtlCol="0" anchor="t"/>
          <a:lstStyle/>
          <a:p>
            <a:pPr marL="0" indent="0">
              <a:lnSpc>
                <a:spcPct val="105000"/>
              </a:lnSpc>
              <a:buNone/>
            </a:pPr>
            <a:r>
              <a:rPr lang="en-US" sz="950" b="1" dirty="0">
                <a:solidFill>
                  <a:srgbClr val="1E293B"/>
                </a:solidFill>
                <a:latin typeface="Calibri" pitchFamily="34" charset="0"/>
                <a:ea typeface="Calibri" pitchFamily="34" charset="-122"/>
                <a:cs typeface="Calibri" pitchFamily="34" charset="-120"/>
              </a:rPr>
              <a:t>no-stim best separated (71% recall); </a:t>
            </a:r>
            <a:r>
              <a:rPr lang="en-US" sz="950" dirty="0">
                <a:solidFill>
                  <a:srgbClr val="64748B"/>
                </a:solidFill>
                <a:latin typeface="Calibri" pitchFamily="34" charset="0"/>
                <a:ea typeface="Calibri" pitchFamily="34" charset="-122"/>
                <a:cs typeface="Calibri" pitchFamily="34" charset="-120"/>
              </a:rPr>
              <a:t>the intermediate (min+medium merged) class is the hardest, bleeding into no-stim. LOSO ≈ within shows the model generalizes across subjects but plateaus at the same place the LDA does.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EEGNET · 4-CLASS</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Network, setup, and performance</a:t>
            </a:r>
            <a:endParaRPr lang="en-US" sz="3000" dirty="0"/>
          </a:p>
        </p:txBody>
      </p:sp>
      <p:sp>
        <p:nvSpPr>
          <p:cNvPr id="4" name="Shape 2"/>
          <p:cNvSpPr/>
          <p:nvPr/>
        </p:nvSpPr>
        <p:spPr>
          <a:xfrm>
            <a:off x="548640" y="1463040"/>
            <a:ext cx="4114800" cy="2788920"/>
          </a:xfrm>
          <a:prstGeom prst="roundRect">
            <a:avLst>
              <a:gd name="adj" fmla="val 2623"/>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5" name="Text 3"/>
          <p:cNvSpPr/>
          <p:nvPr/>
        </p:nvSpPr>
        <p:spPr>
          <a:xfrm>
            <a:off x="777240" y="1627632"/>
            <a:ext cx="36576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Architecture (EEGNet-8,2)</a:t>
            </a:r>
            <a:endParaRPr lang="en-US" sz="1500" dirty="0"/>
          </a:p>
        </p:txBody>
      </p:sp>
      <p:sp>
        <p:nvSpPr>
          <p:cNvPr id="6" name="Text 4"/>
          <p:cNvSpPr/>
          <p:nvPr/>
        </p:nvSpPr>
        <p:spPr>
          <a:xfrm>
            <a:off x="777240" y="2029968"/>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Input</a:t>
            </a:r>
            <a:endParaRPr lang="en-US" sz="1050" dirty="0"/>
          </a:p>
        </p:txBody>
      </p:sp>
      <p:sp>
        <p:nvSpPr>
          <p:cNvPr id="7" name="Text 5"/>
          <p:cNvSpPr/>
          <p:nvPr/>
        </p:nvSpPr>
        <p:spPr>
          <a:xfrm>
            <a:off x="2468880" y="2029968"/>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60 ch × T samples × 1</a:t>
            </a:r>
            <a:endParaRPr lang="en-US" sz="1050" dirty="0"/>
          </a:p>
        </p:txBody>
      </p:sp>
      <p:sp>
        <p:nvSpPr>
          <p:cNvPr id="8" name="Text 6"/>
          <p:cNvSpPr/>
          <p:nvPr/>
        </p:nvSpPr>
        <p:spPr>
          <a:xfrm>
            <a:off x="777240" y="2336292"/>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Temporal conv</a:t>
            </a:r>
            <a:endParaRPr lang="en-US" sz="1050" dirty="0"/>
          </a:p>
        </p:txBody>
      </p:sp>
      <p:sp>
        <p:nvSpPr>
          <p:cNvPr id="9" name="Text 7"/>
          <p:cNvSpPr/>
          <p:nvPr/>
        </p:nvSpPr>
        <p:spPr>
          <a:xfrm>
            <a:off x="2468880" y="2336292"/>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F1 = 8 filters, kernel 500 ms</a:t>
            </a:r>
            <a:endParaRPr lang="en-US" sz="1050" dirty="0"/>
          </a:p>
        </p:txBody>
      </p:sp>
      <p:sp>
        <p:nvSpPr>
          <p:cNvPr id="10" name="Text 8"/>
          <p:cNvSpPr/>
          <p:nvPr/>
        </p:nvSpPr>
        <p:spPr>
          <a:xfrm>
            <a:off x="777240" y="2642616"/>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Depthwise conv</a:t>
            </a:r>
            <a:endParaRPr lang="en-US" sz="1050" dirty="0"/>
          </a:p>
        </p:txBody>
      </p:sp>
      <p:sp>
        <p:nvSpPr>
          <p:cNvPr id="11" name="Text 9"/>
          <p:cNvSpPr/>
          <p:nvPr/>
        </p:nvSpPr>
        <p:spPr>
          <a:xfrm>
            <a:off x="2468880" y="2642616"/>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 = 2 (spatial, per-channel)</a:t>
            </a:r>
            <a:endParaRPr lang="en-US" sz="1050" dirty="0"/>
          </a:p>
        </p:txBody>
      </p:sp>
      <p:sp>
        <p:nvSpPr>
          <p:cNvPr id="12" name="Text 10"/>
          <p:cNvSpPr/>
          <p:nvPr/>
        </p:nvSpPr>
        <p:spPr>
          <a:xfrm>
            <a:off x="777240" y="2948940"/>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Separable conv</a:t>
            </a:r>
            <a:endParaRPr lang="en-US" sz="1050" dirty="0"/>
          </a:p>
        </p:txBody>
      </p:sp>
      <p:sp>
        <p:nvSpPr>
          <p:cNvPr id="13" name="Text 11"/>
          <p:cNvSpPr/>
          <p:nvPr/>
        </p:nvSpPr>
        <p:spPr>
          <a:xfrm>
            <a:off x="2468880" y="2948940"/>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F2 = 16 filters</a:t>
            </a:r>
            <a:endParaRPr lang="en-US" sz="1050" dirty="0"/>
          </a:p>
        </p:txBody>
      </p:sp>
      <p:sp>
        <p:nvSpPr>
          <p:cNvPr id="14" name="Text 12"/>
          <p:cNvSpPr/>
          <p:nvPr/>
        </p:nvSpPr>
        <p:spPr>
          <a:xfrm>
            <a:off x="777240" y="3255264"/>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Pooling</a:t>
            </a:r>
            <a:endParaRPr lang="en-US" sz="1050" dirty="0"/>
          </a:p>
        </p:txBody>
      </p:sp>
      <p:sp>
        <p:nvSpPr>
          <p:cNvPr id="15" name="Text 13"/>
          <p:cNvSpPr/>
          <p:nvPr/>
        </p:nvSpPr>
        <p:spPr>
          <a:xfrm>
            <a:off x="2468880" y="3255264"/>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avg-pool ×4 then ×8</a:t>
            </a:r>
            <a:endParaRPr lang="en-US" sz="1050" dirty="0"/>
          </a:p>
        </p:txBody>
      </p:sp>
      <p:sp>
        <p:nvSpPr>
          <p:cNvPr id="16" name="Text 14"/>
          <p:cNvSpPr/>
          <p:nvPr/>
        </p:nvSpPr>
        <p:spPr>
          <a:xfrm>
            <a:off x="777240" y="3561588"/>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Dropout</a:t>
            </a:r>
            <a:endParaRPr lang="en-US" sz="1050" dirty="0"/>
          </a:p>
        </p:txBody>
      </p:sp>
      <p:sp>
        <p:nvSpPr>
          <p:cNvPr id="17" name="Text 15"/>
          <p:cNvSpPr/>
          <p:nvPr/>
        </p:nvSpPr>
        <p:spPr>
          <a:xfrm>
            <a:off x="2468880" y="3561588"/>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0.25 (cross) / 0.50 (within)</a:t>
            </a:r>
            <a:endParaRPr lang="en-US" sz="1050" dirty="0"/>
          </a:p>
        </p:txBody>
      </p:sp>
      <p:sp>
        <p:nvSpPr>
          <p:cNvPr id="18" name="Text 16"/>
          <p:cNvSpPr/>
          <p:nvPr/>
        </p:nvSpPr>
        <p:spPr>
          <a:xfrm>
            <a:off x="777240" y="3867912"/>
            <a:ext cx="1691640" cy="274320"/>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Head</a:t>
            </a:r>
            <a:endParaRPr lang="en-US" sz="1050" dirty="0"/>
          </a:p>
        </p:txBody>
      </p:sp>
      <p:sp>
        <p:nvSpPr>
          <p:cNvPr id="19" name="Text 17"/>
          <p:cNvSpPr/>
          <p:nvPr/>
        </p:nvSpPr>
        <p:spPr>
          <a:xfrm>
            <a:off x="2468880" y="3867912"/>
            <a:ext cx="201168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dense → softmax</a:t>
            </a:r>
            <a:endParaRPr lang="en-US" sz="1050" dirty="0"/>
          </a:p>
        </p:txBody>
      </p:sp>
      <p:sp>
        <p:nvSpPr>
          <p:cNvPr id="20" name="Shape 18"/>
          <p:cNvSpPr/>
          <p:nvPr/>
        </p:nvSpPr>
        <p:spPr>
          <a:xfrm>
            <a:off x="548640" y="4370832"/>
            <a:ext cx="4114800" cy="2103120"/>
          </a:xfrm>
          <a:prstGeom prst="roundRect">
            <a:avLst>
              <a:gd name="adj" fmla="val 381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21" name="Text 19"/>
          <p:cNvSpPr/>
          <p:nvPr/>
        </p:nvSpPr>
        <p:spPr>
          <a:xfrm>
            <a:off x="777240" y="4517136"/>
            <a:ext cx="3657600" cy="292608"/>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Training setup</a:t>
            </a:r>
            <a:endParaRPr lang="en-US" sz="1500" dirty="0"/>
          </a:p>
        </p:txBody>
      </p:sp>
      <p:sp>
        <p:nvSpPr>
          <p:cNvPr id="22" name="Text 20"/>
          <p:cNvSpPr/>
          <p:nvPr/>
        </p:nvSpPr>
        <p:spPr>
          <a:xfrm>
            <a:off x="777240" y="4919472"/>
            <a:ext cx="173736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Optimizer</a:t>
            </a:r>
            <a:endParaRPr lang="en-US" sz="1100" dirty="0"/>
          </a:p>
        </p:txBody>
      </p:sp>
      <p:sp>
        <p:nvSpPr>
          <p:cNvPr id="23" name="Text 21"/>
          <p:cNvSpPr/>
          <p:nvPr/>
        </p:nvSpPr>
        <p:spPr>
          <a:xfrm>
            <a:off x="2514600" y="4919472"/>
            <a:ext cx="196596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Adam, lr 1e-3, batch 32</a:t>
            </a:r>
            <a:endParaRPr lang="en-US" sz="1100" dirty="0"/>
          </a:p>
        </p:txBody>
      </p:sp>
      <p:sp>
        <p:nvSpPr>
          <p:cNvPr id="24" name="Text 22"/>
          <p:cNvSpPr/>
          <p:nvPr/>
        </p:nvSpPr>
        <p:spPr>
          <a:xfrm>
            <a:off x="777240" y="5193792"/>
            <a:ext cx="173736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Epochs</a:t>
            </a:r>
            <a:endParaRPr lang="en-US" sz="1100" dirty="0"/>
          </a:p>
        </p:txBody>
      </p:sp>
      <p:sp>
        <p:nvSpPr>
          <p:cNvPr id="25" name="Text 23"/>
          <p:cNvSpPr/>
          <p:nvPr/>
        </p:nvSpPr>
        <p:spPr>
          <a:xfrm>
            <a:off x="2514600" y="5193792"/>
            <a:ext cx="196596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up to 500, early-stop pat. 50</a:t>
            </a:r>
            <a:endParaRPr lang="en-US" sz="1100" dirty="0"/>
          </a:p>
        </p:txBody>
      </p:sp>
      <p:sp>
        <p:nvSpPr>
          <p:cNvPr id="26" name="Text 24"/>
          <p:cNvSpPr/>
          <p:nvPr/>
        </p:nvSpPr>
        <p:spPr>
          <a:xfrm>
            <a:off x="777240" y="5468112"/>
            <a:ext cx="173736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LR schedule</a:t>
            </a:r>
            <a:endParaRPr lang="en-US" sz="1100" dirty="0"/>
          </a:p>
        </p:txBody>
      </p:sp>
      <p:sp>
        <p:nvSpPr>
          <p:cNvPr id="27" name="Text 25"/>
          <p:cNvSpPr/>
          <p:nvPr/>
        </p:nvSpPr>
        <p:spPr>
          <a:xfrm>
            <a:off x="2514600" y="5468112"/>
            <a:ext cx="196596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halve on plateau (pat. 20)</a:t>
            </a:r>
            <a:endParaRPr lang="en-US" sz="1100" dirty="0"/>
          </a:p>
        </p:txBody>
      </p:sp>
      <p:sp>
        <p:nvSpPr>
          <p:cNvPr id="28" name="Text 26"/>
          <p:cNvSpPr/>
          <p:nvPr/>
        </p:nvSpPr>
        <p:spPr>
          <a:xfrm>
            <a:off x="777240" y="5742432"/>
            <a:ext cx="173736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Class weights</a:t>
            </a:r>
            <a:endParaRPr lang="en-US" sz="1100" dirty="0"/>
          </a:p>
        </p:txBody>
      </p:sp>
      <p:sp>
        <p:nvSpPr>
          <p:cNvPr id="29" name="Text 27"/>
          <p:cNvSpPr/>
          <p:nvPr/>
        </p:nvSpPr>
        <p:spPr>
          <a:xfrm>
            <a:off x="2514600" y="5742432"/>
            <a:ext cx="196596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balanced</a:t>
            </a:r>
            <a:endParaRPr lang="en-US" sz="1100" dirty="0"/>
          </a:p>
        </p:txBody>
      </p:sp>
      <p:sp>
        <p:nvSpPr>
          <p:cNvPr id="30" name="Text 28"/>
          <p:cNvSpPr/>
          <p:nvPr/>
        </p:nvSpPr>
        <p:spPr>
          <a:xfrm>
            <a:off x="777240" y="6016752"/>
            <a:ext cx="173736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Scaler / seed</a:t>
            </a:r>
            <a:endParaRPr lang="en-US" sz="1100" dirty="0"/>
          </a:p>
        </p:txBody>
      </p:sp>
      <p:sp>
        <p:nvSpPr>
          <p:cNvPr id="31" name="Text 29"/>
          <p:cNvSpPr/>
          <p:nvPr/>
        </p:nvSpPr>
        <p:spPr>
          <a:xfrm>
            <a:off x="2514600" y="6016752"/>
            <a:ext cx="196596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per-channel z-score · 42</a:t>
            </a:r>
            <a:endParaRPr lang="en-US" sz="1100" dirty="0"/>
          </a:p>
        </p:txBody>
      </p:sp>
      <p:sp>
        <p:nvSpPr>
          <p:cNvPr id="32" name="Shape 30"/>
          <p:cNvSpPr/>
          <p:nvPr/>
        </p:nvSpPr>
        <p:spPr>
          <a:xfrm>
            <a:off x="4892040" y="1463040"/>
            <a:ext cx="3200400" cy="2331720"/>
          </a:xfrm>
          <a:prstGeom prst="roundRect">
            <a:avLst>
              <a:gd name="adj" fmla="val 3137"/>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33" name="Image 0" descr="assets/eeg_4c.png"/>
          <p:cNvPicPr>
            <a:picLocks noChangeAspect="1"/>
          </p:cNvPicPr>
          <p:nvPr/>
        </p:nvPicPr>
        <p:blipFill>
          <a:blip r:embed="rId3"/>
          <a:stretch>
            <a:fillRect/>
          </a:stretch>
        </p:blipFill>
        <p:spPr>
          <a:xfrm>
            <a:off x="4983480" y="1554480"/>
            <a:ext cx="3017520" cy="2148840"/>
          </a:xfrm>
          <a:prstGeom prst="rect">
            <a:avLst/>
          </a:prstGeom>
        </p:spPr>
      </p:pic>
      <p:sp>
        <p:nvSpPr>
          <p:cNvPr id="34" name="Shape 31"/>
          <p:cNvSpPr/>
          <p:nvPr/>
        </p:nvSpPr>
        <p:spPr>
          <a:xfrm>
            <a:off x="8321040" y="1463040"/>
            <a:ext cx="3291840" cy="2331720"/>
          </a:xfrm>
          <a:prstGeom prst="roundRect">
            <a:avLst>
              <a:gd name="adj" fmla="val 3137"/>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35" name="Image 1" descr="assets/eeg_conf_4c.png"/>
          <p:cNvPicPr>
            <a:picLocks noChangeAspect="1"/>
          </p:cNvPicPr>
          <p:nvPr/>
        </p:nvPicPr>
        <p:blipFill>
          <a:blip r:embed="rId4"/>
          <a:stretch>
            <a:fillRect/>
          </a:stretch>
        </p:blipFill>
        <p:spPr>
          <a:xfrm>
            <a:off x="8412480" y="1517904"/>
            <a:ext cx="3108960" cy="2212848"/>
          </a:xfrm>
          <a:prstGeom prst="rect">
            <a:avLst/>
          </a:prstGeom>
        </p:spPr>
      </p:pic>
      <p:sp>
        <p:nvSpPr>
          <p:cNvPr id="36" name="Shape 32"/>
          <p:cNvSpPr/>
          <p:nvPr/>
        </p:nvSpPr>
        <p:spPr>
          <a:xfrm>
            <a:off x="4892040" y="3977640"/>
            <a:ext cx="6720840" cy="2496312"/>
          </a:xfrm>
          <a:prstGeom prst="roundRect">
            <a:avLst>
              <a:gd name="adj" fmla="val 3162"/>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37" name="Text 33"/>
          <p:cNvSpPr/>
          <p:nvPr/>
        </p:nvSpPr>
        <p:spPr>
          <a:xfrm>
            <a:off x="5120640" y="4114800"/>
            <a:ext cx="6400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Results &amp; reading</a:t>
            </a:r>
            <a:endParaRPr lang="en-US" sz="1500" dirty="0"/>
          </a:p>
        </p:txBody>
      </p:sp>
      <p:sp>
        <p:nvSpPr>
          <p:cNvPr id="38" name="Text 34"/>
          <p:cNvSpPr/>
          <p:nvPr/>
        </p:nvSpPr>
        <p:spPr>
          <a:xfrm>
            <a:off x="5074920" y="4526280"/>
            <a:ext cx="1554480" cy="566928"/>
          </a:xfrm>
          <a:prstGeom prst="rect">
            <a:avLst/>
          </a:prstGeom>
          <a:noFill/>
          <a:ln/>
        </p:spPr>
        <p:txBody>
          <a:bodyPr wrap="square" lIns="0" tIns="0" rIns="0" bIns="0" rtlCol="0" anchor="ctr"/>
          <a:lstStyle/>
          <a:p>
            <a:pPr marL="0" indent="0" algn="ctr">
              <a:buNone/>
            </a:pPr>
            <a:r>
              <a:rPr lang="en-US" sz="3400" b="1" dirty="0">
                <a:solidFill>
                  <a:srgbClr val="1C7293"/>
                </a:solidFill>
                <a:latin typeface="Cambria" pitchFamily="34" charset="0"/>
                <a:ea typeface="Cambria" pitchFamily="34" charset="-122"/>
                <a:cs typeface="Cambria" pitchFamily="34" charset="-120"/>
              </a:rPr>
              <a:t>53.0%</a:t>
            </a:r>
            <a:endParaRPr lang="en-US" sz="3400" dirty="0"/>
          </a:p>
        </p:txBody>
      </p:sp>
      <p:sp>
        <p:nvSpPr>
          <p:cNvPr id="39" name="Text 35"/>
          <p:cNvSpPr/>
          <p:nvPr/>
        </p:nvSpPr>
        <p:spPr>
          <a:xfrm>
            <a:off x="5074920" y="5074920"/>
            <a:ext cx="155448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within-subject</a:t>
            </a:r>
            <a:endParaRPr lang="en-US" sz="1100" dirty="0"/>
          </a:p>
        </p:txBody>
      </p:sp>
      <p:sp>
        <p:nvSpPr>
          <p:cNvPr id="40" name="Text 36"/>
          <p:cNvSpPr/>
          <p:nvPr/>
        </p:nvSpPr>
        <p:spPr>
          <a:xfrm>
            <a:off x="6720840" y="4526280"/>
            <a:ext cx="1554480" cy="566928"/>
          </a:xfrm>
          <a:prstGeom prst="rect">
            <a:avLst/>
          </a:prstGeom>
          <a:noFill/>
          <a:ln/>
        </p:spPr>
        <p:txBody>
          <a:bodyPr wrap="square" lIns="0" tIns="0" rIns="0" bIns="0" rtlCol="0" anchor="ctr"/>
          <a:lstStyle/>
          <a:p>
            <a:pPr marL="0" indent="0" algn="ctr">
              <a:buNone/>
            </a:pPr>
            <a:r>
              <a:rPr lang="en-US" sz="3400" b="1" dirty="0">
                <a:solidFill>
                  <a:srgbClr val="21295C"/>
                </a:solidFill>
                <a:latin typeface="Cambria" pitchFamily="34" charset="0"/>
                <a:ea typeface="Cambria" pitchFamily="34" charset="-122"/>
                <a:cs typeface="Cambria" pitchFamily="34" charset="-120"/>
              </a:rPr>
              <a:t>49.7%</a:t>
            </a:r>
            <a:endParaRPr lang="en-US" sz="3400" dirty="0"/>
          </a:p>
        </p:txBody>
      </p:sp>
      <p:sp>
        <p:nvSpPr>
          <p:cNvPr id="41" name="Text 37"/>
          <p:cNvSpPr/>
          <p:nvPr/>
        </p:nvSpPr>
        <p:spPr>
          <a:xfrm>
            <a:off x="6720840" y="5074920"/>
            <a:ext cx="155448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LOSO</a:t>
            </a:r>
            <a:endParaRPr lang="en-US" sz="1100" dirty="0"/>
          </a:p>
        </p:txBody>
      </p:sp>
      <p:sp>
        <p:nvSpPr>
          <p:cNvPr id="42" name="Text 38"/>
          <p:cNvSpPr/>
          <p:nvPr/>
        </p:nvSpPr>
        <p:spPr>
          <a:xfrm>
            <a:off x="8366760" y="4526280"/>
            <a:ext cx="1554480" cy="566928"/>
          </a:xfrm>
          <a:prstGeom prst="rect">
            <a:avLst/>
          </a:prstGeom>
          <a:noFill/>
          <a:ln/>
        </p:spPr>
        <p:txBody>
          <a:bodyPr wrap="square" lIns="0" tIns="0" rIns="0" bIns="0" rtlCol="0" anchor="ctr"/>
          <a:lstStyle/>
          <a:p>
            <a:pPr marL="0" indent="0" algn="ctr">
              <a:buNone/>
            </a:pPr>
            <a:r>
              <a:rPr lang="en-US" sz="3400" b="1" dirty="0">
                <a:solidFill>
                  <a:srgbClr val="B85042"/>
                </a:solidFill>
                <a:latin typeface="Cambria" pitchFamily="34" charset="0"/>
                <a:ea typeface="Cambria" pitchFamily="34" charset="-122"/>
                <a:cs typeface="Cambria" pitchFamily="34" charset="-120"/>
              </a:rPr>
              <a:t>1.99×</a:t>
            </a:r>
            <a:endParaRPr lang="en-US" sz="3400" dirty="0"/>
          </a:p>
        </p:txBody>
      </p:sp>
      <p:sp>
        <p:nvSpPr>
          <p:cNvPr id="43" name="Text 39"/>
          <p:cNvSpPr/>
          <p:nvPr/>
        </p:nvSpPr>
        <p:spPr>
          <a:xfrm>
            <a:off x="8366760" y="5074920"/>
            <a:ext cx="1554480" cy="45720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vs chance (25%)</a:t>
            </a:r>
            <a:endParaRPr lang="en-US" sz="1100" dirty="0"/>
          </a:p>
        </p:txBody>
      </p:sp>
      <p:sp>
        <p:nvSpPr>
          <p:cNvPr id="44" name="Text 40"/>
          <p:cNvSpPr/>
          <p:nvPr/>
        </p:nvSpPr>
        <p:spPr>
          <a:xfrm>
            <a:off x="10058400" y="4526280"/>
            <a:ext cx="1417320" cy="1645920"/>
          </a:xfrm>
          <a:prstGeom prst="rect">
            <a:avLst/>
          </a:prstGeom>
          <a:noFill/>
          <a:ln/>
        </p:spPr>
        <p:txBody>
          <a:bodyPr wrap="square" lIns="0" tIns="0" rIns="0" bIns="0" rtlCol="0" anchor="t"/>
          <a:lstStyle/>
          <a:p>
            <a:pPr marL="0" indent="0">
              <a:lnSpc>
                <a:spcPct val="105000"/>
              </a:lnSpc>
              <a:buNone/>
            </a:pPr>
            <a:r>
              <a:rPr lang="en-US" sz="950" b="1" dirty="0">
                <a:solidFill>
                  <a:srgbClr val="1E293B"/>
                </a:solidFill>
                <a:latin typeface="Calibri" pitchFamily="34" charset="0"/>
                <a:ea typeface="Calibri" pitchFamily="34" charset="-122"/>
                <a:cs typeface="Calibri" pitchFamily="34" charset="-120"/>
              </a:rPr>
              <a:t>min ↔ medium collapse. </a:t>
            </a:r>
            <a:r>
              <a:rPr lang="en-US" sz="950" dirty="0">
                <a:solidFill>
                  <a:srgbClr val="64748B"/>
                </a:solidFill>
                <a:latin typeface="Calibri" pitchFamily="34" charset="0"/>
                <a:ea typeface="Calibri" pitchFamily="34" charset="-122"/>
                <a:cs typeface="Calibri" pitchFamily="34" charset="-120"/>
              </a:rPr>
              <a:t>Recall is 41% (min) and 34% (medium) — the two adjacent low-intensity classes look alike in EEG. no-stim (68%) and max (55%) stay best separated.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a:effectLst/>
      </p:bgPr>
    </p:bg>
    <p:spTree>
      <p:nvGrpSpPr>
        <p:cNvPr id="1" name=""/>
        <p:cNvGrpSpPr/>
        <p:nvPr/>
      </p:nvGrpSpPr>
      <p:grpSpPr>
        <a:xfrm>
          <a:off x="0" y="0"/>
          <a:ext cx="0" cy="0"/>
          <a:chOff x="0" y="0"/>
          <a:chExt cx="0" cy="0"/>
        </a:xfrm>
      </p:grpSpPr>
      <p:sp>
        <p:nvSpPr>
          <p:cNvPr id="3" name="Text 1"/>
          <p:cNvSpPr/>
          <p:nvPr/>
        </p:nvSpPr>
        <p:spPr>
          <a:xfrm>
            <a:off x="731520" y="228600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Part 2: Shrinkage LDA</a:t>
            </a:r>
            <a:endParaRPr lang="en-US" sz="4400" dirty="0"/>
          </a:p>
        </p:txBody>
      </p:sp>
      <p:sp>
        <p:nvSpPr>
          <p:cNvPr id="4" name="Text 2"/>
          <p:cNvSpPr/>
          <p:nvPr/>
        </p:nvSpPr>
        <p:spPr>
          <a:xfrm>
            <a:off x="777240" y="3337560"/>
            <a:ext cx="10058400" cy="548640"/>
          </a:xfrm>
          <a:prstGeom prst="rect">
            <a:avLst/>
          </a:prstGeom>
          <a:noFill/>
          <a:ln/>
        </p:spPr>
        <p:txBody>
          <a:bodyPr wrap="square" lIns="0" tIns="0" rIns="0" bIns="0" rtlCol="0" anchor="ctr"/>
          <a:lstStyle/>
          <a:p>
            <a:pPr marL="0" indent="0">
              <a:buNone/>
            </a:pPr>
            <a:r>
              <a:rPr lang="en-US" sz="1700" dirty="0">
                <a:solidFill>
                  <a:srgbClr val="CADCFC"/>
                </a:solidFill>
                <a:latin typeface="Calibri" pitchFamily="34" charset="0"/>
                <a:ea typeface="Calibri" pitchFamily="34" charset="-122"/>
                <a:cs typeface="Calibri" pitchFamily="34" charset="-120"/>
              </a:rPr>
              <a:t>Hand-built ERP &amp; band-power features → linear discriminant analysis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LDA · 3-CLASS</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Features, pipeline, and per-model performance</a:t>
            </a:r>
            <a:endParaRPr lang="en-US" sz="3000" dirty="0"/>
          </a:p>
        </p:txBody>
      </p:sp>
      <p:sp>
        <p:nvSpPr>
          <p:cNvPr id="12" name="Shape 10"/>
          <p:cNvSpPr/>
          <p:nvPr/>
        </p:nvSpPr>
        <p:spPr>
          <a:xfrm>
            <a:off x="548640" y="4370832"/>
            <a:ext cx="4023360" cy="1920240"/>
          </a:xfrm>
          <a:prstGeom prst="roundRect">
            <a:avLst>
              <a:gd name="adj" fmla="val 381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3" name="Text 11"/>
          <p:cNvSpPr/>
          <p:nvPr/>
        </p:nvSpPr>
        <p:spPr>
          <a:xfrm>
            <a:off x="777240" y="4498848"/>
            <a:ext cx="3657600" cy="292608"/>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Validation pipeline</a:t>
            </a:r>
            <a:endParaRPr lang="en-US" sz="1400" dirty="0"/>
          </a:p>
        </p:txBody>
      </p:sp>
      <p:sp>
        <p:nvSpPr>
          <p:cNvPr id="14" name="Text 12"/>
          <p:cNvSpPr/>
          <p:nvPr/>
        </p:nvSpPr>
        <p:spPr>
          <a:xfrm>
            <a:off x="777240" y="4864608"/>
            <a:ext cx="3657600" cy="365760"/>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features</a:t>
            </a:r>
            <a:r>
              <a:rPr lang="en-US" sz="1150" dirty="0">
                <a:solidFill>
                  <a:srgbClr val="64748B"/>
                </a:solidFill>
                <a:latin typeface="Calibri" pitchFamily="34" charset="0"/>
                <a:ea typeface="Calibri" pitchFamily="34" charset="-122"/>
                <a:cs typeface="Calibri" pitchFamily="34" charset="-120"/>
              </a:rPr>
              <a:t>  →  </a:t>
            </a:r>
            <a:r>
              <a:rPr lang="en-US" sz="1150" b="1" dirty="0">
                <a:solidFill>
                  <a:srgbClr val="1C7293"/>
                </a:solidFill>
                <a:latin typeface="Calibri" pitchFamily="34" charset="0"/>
                <a:ea typeface="Calibri" pitchFamily="34" charset="-122"/>
                <a:cs typeface="Calibri" pitchFamily="34" charset="-120"/>
              </a:rPr>
              <a:t>StandardScaler</a:t>
            </a:r>
            <a:r>
              <a:rPr lang="en-US" sz="1150" dirty="0">
                <a:solidFill>
                  <a:srgbClr val="64748B"/>
                </a:solidFill>
                <a:latin typeface="Calibri" pitchFamily="34" charset="0"/>
                <a:ea typeface="Calibri" pitchFamily="34" charset="-122"/>
                <a:cs typeface="Calibri" pitchFamily="34" charset="-120"/>
              </a:rPr>
              <a:t>  →  </a:t>
            </a:r>
            <a:r>
              <a:rPr lang="en-US" sz="1150" b="1" dirty="0">
                <a:solidFill>
                  <a:srgbClr val="1C7293"/>
                </a:solidFill>
                <a:latin typeface="Calibri" pitchFamily="34" charset="0"/>
                <a:ea typeface="Calibri" pitchFamily="34" charset="-122"/>
                <a:cs typeface="Calibri" pitchFamily="34" charset="-120"/>
              </a:rPr>
              <a:t>shrinkage-LDA</a:t>
            </a:r>
            <a:endParaRPr lang="en-US" sz="1150" dirty="0"/>
          </a:p>
        </p:txBody>
      </p:sp>
      <p:sp>
        <p:nvSpPr>
          <p:cNvPr id="15" name="Text 13"/>
          <p:cNvSpPr/>
          <p:nvPr/>
        </p:nvSpPr>
        <p:spPr>
          <a:xfrm>
            <a:off x="777240" y="5285232"/>
            <a:ext cx="3657600" cy="914400"/>
          </a:xfrm>
          <a:prstGeom prst="rect">
            <a:avLst/>
          </a:prstGeom>
          <a:noFill/>
          <a:ln/>
        </p:spPr>
        <p:txBody>
          <a:bodyPr wrap="square" lIns="0" tIns="0" rIns="0" bIns="0" rtlCol="0" anchor="t"/>
          <a:lstStyle/>
          <a:p>
            <a:pPr marL="0" indent="0">
              <a:lnSpc>
                <a:spcPct val="105000"/>
              </a:lnSpc>
              <a:buNone/>
            </a:pPr>
            <a:r>
              <a:rPr lang="en-US" sz="1000" b="1" dirty="0">
                <a:solidFill>
                  <a:srgbClr val="1E293B"/>
                </a:solidFill>
                <a:latin typeface="Calibri" pitchFamily="34" charset="0"/>
                <a:ea typeface="Calibri" pitchFamily="34" charset="-122"/>
                <a:cs typeface="Calibri" pitchFamily="34" charset="-120"/>
              </a:rPr>
              <a:t>Leakage-safe: </a:t>
            </a:r>
            <a:r>
              <a:rPr lang="en-US" sz="1000" dirty="0">
                <a:solidFill>
                  <a:srgbClr val="64748B"/>
                </a:solidFill>
                <a:latin typeface="Calibri" pitchFamily="34" charset="0"/>
                <a:ea typeface="Calibri" pitchFamily="34" charset="-122"/>
                <a:cs typeface="Calibri" pitchFamily="34" charset="-120"/>
              </a:rPr>
              <a:t>extractors use no labels; scaler &amp; LDA fit inside each fold. LOSO adds per-subject z-scoring. Artifact filter drops high baseline-SD trials.</a:t>
            </a:r>
            <a:endParaRPr lang="en-US" sz="1000" dirty="0"/>
          </a:p>
        </p:txBody>
      </p:sp>
      <p:sp>
        <p:nvSpPr>
          <p:cNvPr id="16" name="Shape 14"/>
          <p:cNvSpPr/>
          <p:nvPr/>
        </p:nvSpPr>
        <p:spPr>
          <a:xfrm>
            <a:off x="4800600" y="1463040"/>
            <a:ext cx="6812280" cy="3063240"/>
          </a:xfrm>
          <a:prstGeom prst="roundRect">
            <a:avLst>
              <a:gd name="adj" fmla="val 2388"/>
            </a:avLst>
          </a:prstGeom>
          <a:solidFill>
            <a:srgbClr val="FFFFFF"/>
          </a:solidFill>
          <a:ln/>
          <a:effectLst>
            <a:outerShdw blurRad="88900" dist="38100" dir="5400000" algn="bl" rotWithShape="0">
              <a:srgbClr val="000000">
                <a:alpha val="13000"/>
              </a:srgbClr>
            </a:outerShdw>
          </a:effectLst>
        </p:spPr>
        <p:txBody>
          <a:bodyPr/>
          <a:lstStyle/>
          <a:p>
            <a:endParaRPr lang="en-US" dirty="0"/>
          </a:p>
        </p:txBody>
      </p:sp>
      <p:pic>
        <p:nvPicPr>
          <p:cNvPr id="17" name="Image 0" descr="assets/lda_3c.png"/>
          <p:cNvPicPr>
            <a:picLocks noChangeAspect="1"/>
          </p:cNvPicPr>
          <p:nvPr/>
        </p:nvPicPr>
        <p:blipFill>
          <a:blip r:embed="rId3"/>
          <a:stretch>
            <a:fillRect/>
          </a:stretch>
        </p:blipFill>
        <p:spPr>
          <a:xfrm>
            <a:off x="5029200" y="1704986"/>
            <a:ext cx="1809492" cy="1049952"/>
          </a:xfrm>
          <a:prstGeom prst="rect">
            <a:avLst/>
          </a:prstGeom>
        </p:spPr>
      </p:pic>
      <p:sp>
        <p:nvSpPr>
          <p:cNvPr id="20" name="Shape 16"/>
          <p:cNvSpPr/>
          <p:nvPr/>
        </p:nvSpPr>
        <p:spPr>
          <a:xfrm>
            <a:off x="4800600" y="4663440"/>
            <a:ext cx="6812280" cy="1627632"/>
          </a:xfrm>
          <a:prstGeom prst="roundRect">
            <a:avLst>
              <a:gd name="adj" fmla="val 4494"/>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21" name="Text 17"/>
          <p:cNvSpPr/>
          <p:nvPr/>
        </p:nvSpPr>
        <p:spPr>
          <a:xfrm>
            <a:off x="7360920" y="4828032"/>
            <a:ext cx="2194560" cy="27432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LOSO (cross-subject)</a:t>
            </a:r>
            <a:endParaRPr lang="en-US" sz="1100" dirty="0"/>
          </a:p>
        </p:txBody>
      </p:sp>
      <p:sp>
        <p:nvSpPr>
          <p:cNvPr id="22" name="Text 18"/>
          <p:cNvSpPr/>
          <p:nvPr/>
        </p:nvSpPr>
        <p:spPr>
          <a:xfrm>
            <a:off x="7360920" y="5074920"/>
            <a:ext cx="2194560" cy="457200"/>
          </a:xfrm>
          <a:prstGeom prst="rect">
            <a:avLst/>
          </a:prstGeom>
          <a:noFill/>
          <a:ln/>
        </p:spPr>
        <p:txBody>
          <a:bodyPr wrap="square" lIns="0" tIns="0" rIns="0" bIns="0" rtlCol="0" anchor="ctr"/>
          <a:lstStyle/>
          <a:p>
            <a:pPr marL="0" indent="0">
              <a:buNone/>
            </a:pPr>
            <a:r>
              <a:rPr lang="en-US" sz="2100" b="1" dirty="0">
                <a:solidFill>
                  <a:srgbClr val="1C7293"/>
                </a:solidFill>
                <a:latin typeface="Cambria" pitchFamily="34" charset="0"/>
                <a:ea typeface="Cambria" pitchFamily="34" charset="-122"/>
                <a:cs typeface="Cambria" pitchFamily="34" charset="-120"/>
              </a:rPr>
              <a:t>57.8 / 58.3 / 61.7</a:t>
            </a:r>
            <a:endParaRPr lang="en-US" sz="2100" dirty="0"/>
          </a:p>
        </p:txBody>
      </p:sp>
      <p:sp>
        <p:nvSpPr>
          <p:cNvPr id="23" name="Text 19"/>
          <p:cNvSpPr/>
          <p:nvPr/>
        </p:nvSpPr>
        <p:spPr>
          <a:xfrm>
            <a:off x="7360920" y="5532120"/>
            <a:ext cx="2194560" cy="2743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ERP / BP / Combined %</a:t>
            </a:r>
            <a:endParaRPr lang="en-US" sz="950" dirty="0"/>
          </a:p>
        </p:txBody>
      </p:sp>
      <p:sp>
        <p:nvSpPr>
          <p:cNvPr id="24" name="Text 20"/>
          <p:cNvSpPr/>
          <p:nvPr/>
        </p:nvSpPr>
        <p:spPr>
          <a:xfrm>
            <a:off x="5029200" y="4828032"/>
            <a:ext cx="2194560" cy="27432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Within-subject</a:t>
            </a:r>
            <a:endParaRPr lang="en-US" sz="1100" dirty="0"/>
          </a:p>
        </p:txBody>
      </p:sp>
      <p:sp>
        <p:nvSpPr>
          <p:cNvPr id="25" name="Text 21"/>
          <p:cNvSpPr/>
          <p:nvPr/>
        </p:nvSpPr>
        <p:spPr>
          <a:xfrm>
            <a:off x="5029200" y="5074920"/>
            <a:ext cx="2194560" cy="457200"/>
          </a:xfrm>
          <a:prstGeom prst="rect">
            <a:avLst/>
          </a:prstGeom>
          <a:noFill/>
          <a:ln/>
        </p:spPr>
        <p:txBody>
          <a:bodyPr wrap="square" lIns="0" tIns="0" rIns="0" bIns="0" rtlCol="0" anchor="ctr"/>
          <a:lstStyle/>
          <a:p>
            <a:pPr marL="0" indent="0">
              <a:buNone/>
            </a:pPr>
            <a:r>
              <a:rPr lang="en-US" sz="2100" b="1" dirty="0">
                <a:solidFill>
                  <a:srgbClr val="21295C"/>
                </a:solidFill>
                <a:latin typeface="Cambria" pitchFamily="34" charset="0"/>
                <a:ea typeface="Cambria" pitchFamily="34" charset="-122"/>
                <a:cs typeface="Cambria" pitchFamily="34" charset="-120"/>
              </a:rPr>
              <a:t>62.5 / 68.1 / 71.0</a:t>
            </a:r>
            <a:endParaRPr lang="en-US" sz="2100" dirty="0"/>
          </a:p>
        </p:txBody>
      </p:sp>
      <p:sp>
        <p:nvSpPr>
          <p:cNvPr id="26" name="Text 22"/>
          <p:cNvSpPr/>
          <p:nvPr/>
        </p:nvSpPr>
        <p:spPr>
          <a:xfrm>
            <a:off x="5029200" y="5532120"/>
            <a:ext cx="2194560" cy="2743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ERP / BP / Combined %</a:t>
            </a:r>
            <a:endParaRPr lang="en-US" sz="950" dirty="0"/>
          </a:p>
        </p:txBody>
      </p:sp>
      <p:sp>
        <p:nvSpPr>
          <p:cNvPr id="27" name="Text 23"/>
          <p:cNvSpPr/>
          <p:nvPr/>
        </p:nvSpPr>
        <p:spPr>
          <a:xfrm>
            <a:off x="9646920" y="4846320"/>
            <a:ext cx="1828800" cy="1280160"/>
          </a:xfrm>
          <a:prstGeom prst="rect">
            <a:avLst/>
          </a:prstGeom>
          <a:noFill/>
          <a:ln/>
        </p:spPr>
        <p:txBody>
          <a:bodyPr wrap="square" lIns="0" tIns="0" rIns="0" bIns="0" rtlCol="0" anchor="t"/>
          <a:lstStyle/>
          <a:p>
            <a:pPr marL="0" indent="0">
              <a:lnSpc>
                <a:spcPct val="105000"/>
              </a:lnSpc>
              <a:buNone/>
            </a:pPr>
            <a:r>
              <a:rPr lang="en-US" sz="950" b="1" dirty="0">
                <a:solidFill>
                  <a:srgbClr val="1E293B"/>
                </a:solidFill>
                <a:latin typeface="Calibri" pitchFamily="34" charset="0"/>
                <a:ea typeface="Calibri" pitchFamily="34" charset="-122"/>
                <a:cs typeface="Calibri" pitchFamily="34" charset="-120"/>
              </a:rPr>
              <a:t>Combined wins both. </a:t>
            </a:r>
            <a:r>
              <a:rPr lang="en-US" sz="950" dirty="0">
                <a:solidFill>
                  <a:srgbClr val="64748B"/>
                </a:solidFill>
                <a:latin typeface="Calibri" pitchFamily="34" charset="0"/>
                <a:ea typeface="Calibri" pitchFamily="34" charset="-122"/>
                <a:cs typeface="Calibri" pitchFamily="34" charset="-120"/>
              </a:rPr>
              <a:t>Band-power alone edges ERP; fusing them adds ~3 pts. Best cross-subject result of any model here.</a:t>
            </a:r>
            <a:endParaRPr lang="en-US" sz="950" dirty="0"/>
          </a:p>
        </p:txBody>
      </p:sp>
      <p:sp>
        <p:nvSpPr>
          <p:cNvPr id="28" name="Shape 2">
            <a:extLst>
              <a:ext uri="{FF2B5EF4-FFF2-40B4-BE49-F238E27FC236}">
                <a16:creationId xmlns:a16="http://schemas.microsoft.com/office/drawing/2014/main" id="{FD908358-EB4C-F5C4-CD7F-014020CC78FC}"/>
              </a:ext>
            </a:extLst>
          </p:cNvPr>
          <p:cNvSpPr/>
          <p:nvPr/>
        </p:nvSpPr>
        <p:spPr>
          <a:xfrm>
            <a:off x="548640" y="1463040"/>
            <a:ext cx="4023360" cy="2788920"/>
          </a:xfrm>
          <a:prstGeom prst="roundRect">
            <a:avLst>
              <a:gd name="adj" fmla="val 2623"/>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29" name="Text 3">
            <a:extLst>
              <a:ext uri="{FF2B5EF4-FFF2-40B4-BE49-F238E27FC236}">
                <a16:creationId xmlns:a16="http://schemas.microsoft.com/office/drawing/2014/main" id="{C0096BF0-F6DD-8CC4-FE9E-9E59E9FCB935}"/>
              </a:ext>
            </a:extLst>
          </p:cNvPr>
          <p:cNvSpPr/>
          <p:nvPr/>
        </p:nvSpPr>
        <p:spPr>
          <a:xfrm>
            <a:off x="777240" y="1627632"/>
            <a:ext cx="356616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Three feature pipelines</a:t>
            </a:r>
            <a:endParaRPr lang="en-US" sz="1500" dirty="0"/>
          </a:p>
        </p:txBody>
      </p:sp>
      <p:sp>
        <p:nvSpPr>
          <p:cNvPr id="30" name="Text 4">
            <a:extLst>
              <a:ext uri="{FF2B5EF4-FFF2-40B4-BE49-F238E27FC236}">
                <a16:creationId xmlns:a16="http://schemas.microsoft.com/office/drawing/2014/main" id="{DF519DE6-2280-8904-8E75-536F69E97ACA}"/>
              </a:ext>
            </a:extLst>
          </p:cNvPr>
          <p:cNvSpPr/>
          <p:nvPr/>
        </p:nvSpPr>
        <p:spPr>
          <a:xfrm>
            <a:off x="777240" y="1970532"/>
            <a:ext cx="356616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ERP (time)</a:t>
            </a:r>
            <a:endParaRPr lang="en-US" sz="1200" dirty="0"/>
          </a:p>
        </p:txBody>
      </p:sp>
      <p:sp>
        <p:nvSpPr>
          <p:cNvPr id="31" name="Text 5">
            <a:extLst>
              <a:ext uri="{FF2B5EF4-FFF2-40B4-BE49-F238E27FC236}">
                <a16:creationId xmlns:a16="http://schemas.microsoft.com/office/drawing/2014/main" id="{F9C9292D-8496-2FFD-0D37-0D31E8F1EFB0}"/>
              </a:ext>
            </a:extLst>
          </p:cNvPr>
          <p:cNvSpPr/>
          <p:nvPr/>
        </p:nvSpPr>
        <p:spPr>
          <a:xfrm>
            <a:off x="777240" y="2226564"/>
            <a:ext cx="3566160" cy="502920"/>
          </a:xfrm>
          <a:prstGeom prst="rect">
            <a:avLst/>
          </a:prstGeom>
          <a:noFill/>
          <a:ln/>
        </p:spPr>
        <p:txBody>
          <a:bodyPr wrap="square" lIns="0" tIns="0" rIns="0" bIns="0" rtlCol="0" anchor="ctr"/>
          <a:lstStyle/>
          <a:p>
            <a:pPr marL="0" indent="0">
              <a:lnSpc>
                <a:spcPct val="100000"/>
              </a:lnSpc>
              <a:buNone/>
            </a:pPr>
            <a:r>
              <a:rPr lang="en-US" sz="1000" dirty="0">
                <a:solidFill>
                  <a:srgbClr val="64748B"/>
                </a:solidFill>
                <a:latin typeface="Calibri" pitchFamily="34" charset="0"/>
                <a:ea typeface="Calibri" pitchFamily="34" charset="-122"/>
                <a:cs typeface="Calibri" pitchFamily="34" charset="-120"/>
              </a:rPr>
              <a:t>Peak amplitude/latency &amp; mean-window features on 8 central channels — the evoked SEP.</a:t>
            </a:r>
            <a:endParaRPr lang="en-US" sz="1000" dirty="0"/>
          </a:p>
        </p:txBody>
      </p:sp>
      <p:sp>
        <p:nvSpPr>
          <p:cNvPr id="32" name="Text 6">
            <a:extLst>
              <a:ext uri="{FF2B5EF4-FFF2-40B4-BE49-F238E27FC236}">
                <a16:creationId xmlns:a16="http://schemas.microsoft.com/office/drawing/2014/main" id="{DD2DA232-2EDD-B81E-72E0-52512E76FBE8}"/>
              </a:ext>
            </a:extLst>
          </p:cNvPr>
          <p:cNvSpPr/>
          <p:nvPr/>
        </p:nvSpPr>
        <p:spPr>
          <a:xfrm>
            <a:off x="777240" y="2692908"/>
            <a:ext cx="356616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Band-power (freq)</a:t>
            </a:r>
            <a:endParaRPr lang="en-US" sz="1200" dirty="0"/>
          </a:p>
        </p:txBody>
      </p:sp>
      <p:sp>
        <p:nvSpPr>
          <p:cNvPr id="33" name="Text 7">
            <a:extLst>
              <a:ext uri="{FF2B5EF4-FFF2-40B4-BE49-F238E27FC236}">
                <a16:creationId xmlns:a16="http://schemas.microsoft.com/office/drawing/2014/main" id="{6FAFC249-3379-F732-C405-F3BF44FEA82A}"/>
              </a:ext>
            </a:extLst>
          </p:cNvPr>
          <p:cNvSpPr/>
          <p:nvPr/>
        </p:nvSpPr>
        <p:spPr>
          <a:xfrm>
            <a:off x="777240" y="2948940"/>
            <a:ext cx="3566160" cy="502920"/>
          </a:xfrm>
          <a:prstGeom prst="rect">
            <a:avLst/>
          </a:prstGeom>
          <a:noFill/>
          <a:ln/>
        </p:spPr>
        <p:txBody>
          <a:bodyPr wrap="square" lIns="0" tIns="0" rIns="0" bIns="0" rtlCol="0" anchor="ctr"/>
          <a:lstStyle/>
          <a:p>
            <a:pPr marL="0" indent="0">
              <a:lnSpc>
                <a:spcPct val="100000"/>
              </a:lnSpc>
              <a:buNone/>
            </a:pPr>
            <a:r>
              <a:rPr lang="en-US" sz="1000" dirty="0">
                <a:solidFill>
                  <a:srgbClr val="64748B"/>
                </a:solidFill>
                <a:latin typeface="Calibri" pitchFamily="34" charset="0"/>
                <a:ea typeface="Calibri" pitchFamily="34" charset="-122"/>
                <a:cs typeface="Calibri" pitchFamily="34" charset="-120"/>
              </a:rPr>
              <a:t>log Welch PSD in delta/theta/alpha/beta/gamma across all 60 channels — the induced response.</a:t>
            </a:r>
            <a:endParaRPr lang="en-US" sz="1000" dirty="0"/>
          </a:p>
        </p:txBody>
      </p:sp>
      <p:sp>
        <p:nvSpPr>
          <p:cNvPr id="34" name="Text 8">
            <a:extLst>
              <a:ext uri="{FF2B5EF4-FFF2-40B4-BE49-F238E27FC236}">
                <a16:creationId xmlns:a16="http://schemas.microsoft.com/office/drawing/2014/main" id="{A5F641C8-2074-9A1F-C57D-D3A310035AE0}"/>
              </a:ext>
            </a:extLst>
          </p:cNvPr>
          <p:cNvSpPr/>
          <p:nvPr/>
        </p:nvSpPr>
        <p:spPr>
          <a:xfrm>
            <a:off x="777240" y="3415284"/>
            <a:ext cx="3566160" cy="27432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Combined</a:t>
            </a:r>
            <a:endParaRPr lang="en-US" sz="1200" dirty="0"/>
          </a:p>
        </p:txBody>
      </p:sp>
      <p:sp>
        <p:nvSpPr>
          <p:cNvPr id="35" name="Text 9">
            <a:extLst>
              <a:ext uri="{FF2B5EF4-FFF2-40B4-BE49-F238E27FC236}">
                <a16:creationId xmlns:a16="http://schemas.microsoft.com/office/drawing/2014/main" id="{9307C81E-0343-7353-712F-3AEEFEFBB522}"/>
              </a:ext>
            </a:extLst>
          </p:cNvPr>
          <p:cNvSpPr/>
          <p:nvPr/>
        </p:nvSpPr>
        <p:spPr>
          <a:xfrm>
            <a:off x="777240" y="3671316"/>
            <a:ext cx="3566160" cy="502920"/>
          </a:xfrm>
          <a:prstGeom prst="rect">
            <a:avLst/>
          </a:prstGeom>
          <a:noFill/>
          <a:ln/>
        </p:spPr>
        <p:txBody>
          <a:bodyPr wrap="square" lIns="0" tIns="0" rIns="0" bIns="0" rtlCol="0" anchor="ctr"/>
          <a:lstStyle/>
          <a:p>
            <a:pPr marL="0" indent="0">
              <a:lnSpc>
                <a:spcPct val="100000"/>
              </a:lnSpc>
              <a:buNone/>
            </a:pPr>
            <a:r>
              <a:rPr lang="en-US" sz="1000" dirty="0">
                <a:solidFill>
                  <a:srgbClr val="64748B"/>
                </a:solidFill>
                <a:latin typeface="Calibri" pitchFamily="34" charset="0"/>
                <a:ea typeface="Calibri" pitchFamily="34" charset="-122"/>
                <a:cs typeface="Calibri" pitchFamily="34" charset="-120"/>
              </a:rPr>
              <a:t>ERP ⊕ band-power concatenated — distinct neural phenomena, non-redundant features.</a:t>
            </a:r>
            <a:endParaRPr lang="en-US" sz="1000" dirty="0"/>
          </a:p>
        </p:txBody>
      </p:sp>
      <p:pic>
        <p:nvPicPr>
          <p:cNvPr id="5" name="Picture 4">
            <a:extLst>
              <a:ext uri="{FF2B5EF4-FFF2-40B4-BE49-F238E27FC236}">
                <a16:creationId xmlns:a16="http://schemas.microsoft.com/office/drawing/2014/main" id="{20EFDD02-F5C1-D386-E8A1-5F31AE518C90}"/>
              </a:ext>
            </a:extLst>
          </p:cNvPr>
          <p:cNvPicPr>
            <a:picLocks noChangeAspect="1"/>
          </p:cNvPicPr>
          <p:nvPr/>
        </p:nvPicPr>
        <p:blipFill>
          <a:blip r:embed="rId4"/>
          <a:stretch>
            <a:fillRect/>
          </a:stretch>
        </p:blipFill>
        <p:spPr>
          <a:xfrm>
            <a:off x="6838692" y="1707332"/>
            <a:ext cx="1754352" cy="1049953"/>
          </a:xfrm>
          <a:prstGeom prst="rect">
            <a:avLst/>
          </a:prstGeom>
        </p:spPr>
      </p:pic>
      <p:pic>
        <p:nvPicPr>
          <p:cNvPr id="7" name="Picture 6">
            <a:extLst>
              <a:ext uri="{FF2B5EF4-FFF2-40B4-BE49-F238E27FC236}">
                <a16:creationId xmlns:a16="http://schemas.microsoft.com/office/drawing/2014/main" id="{074CFC60-6E34-9649-181B-7C20FF759D4D}"/>
              </a:ext>
            </a:extLst>
          </p:cNvPr>
          <p:cNvPicPr>
            <a:picLocks noChangeAspect="1"/>
          </p:cNvPicPr>
          <p:nvPr/>
        </p:nvPicPr>
        <p:blipFill>
          <a:blip r:embed="rId5"/>
          <a:stretch>
            <a:fillRect/>
          </a:stretch>
        </p:blipFill>
        <p:spPr>
          <a:xfrm>
            <a:off x="8593044" y="1707332"/>
            <a:ext cx="1413396" cy="1049952"/>
          </a:xfrm>
          <a:prstGeom prst="rect">
            <a:avLst/>
          </a:prstGeom>
        </p:spPr>
      </p:pic>
      <p:pic>
        <p:nvPicPr>
          <p:cNvPr id="4" name="Picture 3">
            <a:extLst>
              <a:ext uri="{FF2B5EF4-FFF2-40B4-BE49-F238E27FC236}">
                <a16:creationId xmlns:a16="http://schemas.microsoft.com/office/drawing/2014/main" id="{19C4B01A-4C9C-1B0E-1CCE-F445BA6CBC80}"/>
              </a:ext>
            </a:extLst>
          </p:cNvPr>
          <p:cNvPicPr>
            <a:picLocks noChangeAspect="1"/>
          </p:cNvPicPr>
          <p:nvPr/>
        </p:nvPicPr>
        <p:blipFill>
          <a:blip r:embed="rId6"/>
          <a:stretch>
            <a:fillRect/>
          </a:stretch>
        </p:blipFill>
        <p:spPr>
          <a:xfrm>
            <a:off x="5011902" y="2769163"/>
            <a:ext cx="2987891" cy="14827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pPr>
            <a:r>
              <a:rPr sz="1200" b="1">
                <a:solidFill>
                  <a:srgbClr val="1C7293"/>
                </a:solidFill>
                <a:latin typeface="Calibri"/>
              </a:rPr>
              <a:t>LDA · 3-CLASS · 7-CHANNEL DEVICE</a:t>
            </a:r>
          </a:p>
        </p:txBody>
      </p:sp>
      <p:sp>
        <p:nvSpPr>
          <p:cNvPr id="3" name="TextBox 2"/>
          <p:cNvSpPr txBox="1"/>
          <p:nvPr/>
        </p:nvSpPr>
        <p:spPr>
          <a:xfrm>
            <a:off x="548640" y="658368"/>
            <a:ext cx="11064240" cy="566928"/>
          </a:xfrm>
          <a:prstGeom prst="rect">
            <a:avLst/>
          </a:prstGeom>
          <a:noFill/>
        </p:spPr>
        <p:txBody>
          <a:bodyPr wrap="square" lIns="0" tIns="0" rIns="0" bIns="0" anchor="t">
            <a:spAutoFit/>
          </a:bodyPr>
          <a:lstStyle/>
          <a:p>
            <a:pPr algn="l">
              <a:lnSpc>
                <a:spcPct val="100000"/>
              </a:lnSpc>
            </a:pPr>
            <a:r>
              <a:rPr sz="3000" b="1">
                <a:solidFill>
                  <a:srgbClr val="21295C"/>
                </a:solidFill>
                <a:latin typeface="Cambria"/>
              </a:rPr>
              <a:t>Does a deployable montage hold up?</a:t>
            </a:r>
          </a:p>
        </p:txBody>
      </p:sp>
      <p:sp>
        <p:nvSpPr>
          <p:cNvPr id="4" name="Rounded Rectangle 3"/>
          <p:cNvSpPr/>
          <p:nvPr/>
        </p:nvSpPr>
        <p:spPr>
          <a:xfrm>
            <a:off x="548640" y="1463040"/>
            <a:ext cx="4023360" cy="2788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27632"/>
            <a:ext cx="3566160" cy="320040"/>
          </a:xfrm>
          <a:prstGeom prst="rect">
            <a:avLst/>
          </a:prstGeom>
          <a:noFill/>
        </p:spPr>
        <p:txBody>
          <a:bodyPr wrap="square" lIns="0" tIns="0" rIns="0" bIns="0" anchor="t">
            <a:spAutoFit/>
          </a:bodyPr>
          <a:lstStyle/>
          <a:p>
            <a:pPr algn="l">
              <a:lnSpc>
                <a:spcPct val="100000"/>
              </a:lnSpc>
            </a:pPr>
            <a:r>
              <a:rPr sz="1500" b="1" dirty="0">
                <a:solidFill>
                  <a:srgbClr val="21295C"/>
                </a:solidFill>
                <a:latin typeface="Cambria"/>
              </a:rPr>
              <a:t>The 7-channel montage</a:t>
            </a:r>
          </a:p>
        </p:txBody>
      </p:sp>
      <p:sp>
        <p:nvSpPr>
          <p:cNvPr id="6" name="TextBox 5"/>
          <p:cNvSpPr txBox="1"/>
          <p:nvPr/>
        </p:nvSpPr>
        <p:spPr>
          <a:xfrm>
            <a:off x="777240" y="1993392"/>
            <a:ext cx="3566160" cy="457200"/>
          </a:xfrm>
          <a:prstGeom prst="rect">
            <a:avLst/>
          </a:prstGeom>
          <a:noFill/>
        </p:spPr>
        <p:txBody>
          <a:bodyPr wrap="square" lIns="0" tIns="0" rIns="0" bIns="0" anchor="t">
            <a:spAutoFit/>
          </a:bodyPr>
          <a:lstStyle/>
          <a:p>
            <a:pPr algn="l">
              <a:lnSpc>
                <a:spcPct val="105000"/>
              </a:lnSpc>
            </a:pPr>
            <a:r>
              <a:rPr sz="1000" b="0">
                <a:solidFill>
                  <a:srgbClr val="64748B"/>
                </a:solidFill>
                <a:latin typeface="Calibri"/>
              </a:rPr>
              <a:t>Chosen from fold-stable feature importance: the fronto-central cluster where the somatosensory response concentrates.</a:t>
            </a:r>
          </a:p>
        </p:txBody>
      </p:sp>
      <p:sp>
        <p:nvSpPr>
          <p:cNvPr id="7" name="Rounded Rectangle 6"/>
          <p:cNvSpPr/>
          <p:nvPr/>
        </p:nvSpPr>
        <p:spPr>
          <a:xfrm>
            <a:off x="777240" y="2450592"/>
            <a:ext cx="591312"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FCz</a:t>
            </a:r>
          </a:p>
        </p:txBody>
      </p:sp>
      <p:sp>
        <p:nvSpPr>
          <p:cNvPr id="8" name="Rounded Rectangle 7"/>
          <p:cNvSpPr/>
          <p:nvPr/>
        </p:nvSpPr>
        <p:spPr>
          <a:xfrm>
            <a:off x="1545336" y="2450592"/>
            <a:ext cx="591312" cy="384048"/>
          </a:xfrm>
          <a:prstGeom prst="round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Fz</a:t>
            </a:r>
          </a:p>
        </p:txBody>
      </p:sp>
      <p:sp>
        <p:nvSpPr>
          <p:cNvPr id="9" name="Rounded Rectangle 8"/>
          <p:cNvSpPr/>
          <p:nvPr/>
        </p:nvSpPr>
        <p:spPr>
          <a:xfrm>
            <a:off x="2313432" y="2450592"/>
            <a:ext cx="591312"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FC2</a:t>
            </a:r>
          </a:p>
        </p:txBody>
      </p:sp>
      <p:sp>
        <p:nvSpPr>
          <p:cNvPr id="10" name="Rounded Rectangle 9"/>
          <p:cNvSpPr/>
          <p:nvPr/>
        </p:nvSpPr>
        <p:spPr>
          <a:xfrm>
            <a:off x="3081528" y="2450592"/>
            <a:ext cx="591312" cy="384048"/>
          </a:xfrm>
          <a:prstGeom prst="round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FC4</a:t>
            </a:r>
          </a:p>
        </p:txBody>
      </p:sp>
      <p:sp>
        <p:nvSpPr>
          <p:cNvPr id="11" name="Rounded Rectangle 10"/>
          <p:cNvSpPr/>
          <p:nvPr/>
        </p:nvSpPr>
        <p:spPr>
          <a:xfrm>
            <a:off x="3849624" y="2450592"/>
            <a:ext cx="591312"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Cz</a:t>
            </a:r>
          </a:p>
        </p:txBody>
      </p:sp>
      <p:sp>
        <p:nvSpPr>
          <p:cNvPr id="12" name="Rounded Rectangle 11"/>
          <p:cNvSpPr/>
          <p:nvPr/>
        </p:nvSpPr>
        <p:spPr>
          <a:xfrm>
            <a:off x="777240" y="2926080"/>
            <a:ext cx="591312" cy="384048"/>
          </a:xfrm>
          <a:prstGeom prst="round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C2</a:t>
            </a:r>
          </a:p>
        </p:txBody>
      </p:sp>
      <p:sp>
        <p:nvSpPr>
          <p:cNvPr id="13" name="Rounded Rectangle 12"/>
          <p:cNvSpPr/>
          <p:nvPr/>
        </p:nvSpPr>
        <p:spPr>
          <a:xfrm>
            <a:off x="1545336" y="2926080"/>
            <a:ext cx="591312"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C4</a:t>
            </a:r>
          </a:p>
        </p:txBody>
      </p:sp>
      <p:sp>
        <p:nvSpPr>
          <p:cNvPr id="15" name="Rounded Rectangle 14"/>
          <p:cNvSpPr/>
          <p:nvPr/>
        </p:nvSpPr>
        <p:spPr>
          <a:xfrm>
            <a:off x="4800600" y="1463040"/>
            <a:ext cx="6812280" cy="2788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0" y="1627632"/>
            <a:ext cx="6400800" cy="320040"/>
          </a:xfrm>
          <a:prstGeom prst="rect">
            <a:avLst/>
          </a:prstGeom>
          <a:noFill/>
        </p:spPr>
        <p:txBody>
          <a:bodyPr wrap="square" lIns="0" tIns="0" rIns="0" bIns="0" anchor="t">
            <a:spAutoFit/>
          </a:bodyPr>
          <a:lstStyle/>
          <a:p>
            <a:pPr algn="l">
              <a:lnSpc>
                <a:spcPct val="100000"/>
              </a:lnSpc>
            </a:pPr>
            <a:r>
              <a:rPr sz="1500" b="1" dirty="0">
                <a:solidFill>
                  <a:srgbClr val="21295C"/>
                </a:solidFill>
                <a:latin typeface="Cambria"/>
              </a:rPr>
              <a:t>60 channels vs 7 channels (LOSO)</a:t>
            </a:r>
          </a:p>
        </p:txBody>
      </p:sp>
      <p:sp>
        <p:nvSpPr>
          <p:cNvPr id="17" name="Rectangle 16"/>
          <p:cNvSpPr/>
          <p:nvPr/>
        </p:nvSpPr>
        <p:spPr>
          <a:xfrm>
            <a:off x="5097779" y="2505257"/>
            <a:ext cx="1051560" cy="118478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14899" y="2212649"/>
            <a:ext cx="1417319" cy="274320"/>
          </a:xfrm>
          <a:prstGeom prst="rect">
            <a:avLst/>
          </a:prstGeom>
          <a:noFill/>
        </p:spPr>
        <p:txBody>
          <a:bodyPr wrap="square" lIns="0" tIns="0" rIns="0" bIns="0" anchor="t">
            <a:spAutoFit/>
          </a:bodyPr>
          <a:lstStyle/>
          <a:p>
            <a:pPr algn="ctr">
              <a:lnSpc>
                <a:spcPct val="100000"/>
              </a:lnSpc>
            </a:pPr>
            <a:r>
              <a:rPr sz="1400" b="1" dirty="0">
                <a:solidFill>
                  <a:srgbClr val="1E293B"/>
                </a:solidFill>
                <a:latin typeface="Cambria"/>
              </a:rPr>
              <a:t>61.7%</a:t>
            </a:r>
          </a:p>
        </p:txBody>
      </p:sp>
      <p:sp>
        <p:nvSpPr>
          <p:cNvPr id="19" name="TextBox 18"/>
          <p:cNvSpPr txBox="1"/>
          <p:nvPr/>
        </p:nvSpPr>
        <p:spPr>
          <a:xfrm>
            <a:off x="4914899" y="3735766"/>
            <a:ext cx="1417319" cy="274320"/>
          </a:xfrm>
          <a:prstGeom prst="rect">
            <a:avLst/>
          </a:prstGeom>
          <a:noFill/>
        </p:spPr>
        <p:txBody>
          <a:bodyPr wrap="square" lIns="0" tIns="0" rIns="0" bIns="0" anchor="t">
            <a:spAutoFit/>
          </a:bodyPr>
          <a:lstStyle/>
          <a:p>
            <a:pPr algn="ctr">
              <a:lnSpc>
                <a:spcPct val="100000"/>
              </a:lnSpc>
            </a:pPr>
            <a:r>
              <a:rPr sz="1000" b="1">
                <a:solidFill>
                  <a:srgbClr val="64748B"/>
                </a:solidFill>
                <a:latin typeface="Calibri"/>
              </a:rPr>
              <a:t>full 60ch</a:t>
            </a:r>
          </a:p>
        </p:txBody>
      </p:sp>
      <p:sp>
        <p:nvSpPr>
          <p:cNvPr id="20" name="Rectangle 19"/>
          <p:cNvSpPr/>
          <p:nvPr/>
        </p:nvSpPr>
        <p:spPr>
          <a:xfrm>
            <a:off x="6972299" y="2541742"/>
            <a:ext cx="1051560" cy="1148303"/>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89419" y="2249134"/>
            <a:ext cx="1417319" cy="274320"/>
          </a:xfrm>
          <a:prstGeom prst="rect">
            <a:avLst/>
          </a:prstGeom>
          <a:noFill/>
        </p:spPr>
        <p:txBody>
          <a:bodyPr wrap="square" lIns="0" tIns="0" rIns="0" bIns="0" anchor="t">
            <a:spAutoFit/>
          </a:bodyPr>
          <a:lstStyle/>
          <a:p>
            <a:pPr algn="ctr">
              <a:lnSpc>
                <a:spcPct val="100000"/>
              </a:lnSpc>
            </a:pPr>
            <a:r>
              <a:rPr sz="1400" b="1">
                <a:solidFill>
                  <a:srgbClr val="1E293B"/>
                </a:solidFill>
                <a:latin typeface="Cambria"/>
              </a:rPr>
              <a:t>59.8%</a:t>
            </a:r>
          </a:p>
        </p:txBody>
      </p:sp>
      <p:sp>
        <p:nvSpPr>
          <p:cNvPr id="22" name="TextBox 21"/>
          <p:cNvSpPr txBox="1"/>
          <p:nvPr/>
        </p:nvSpPr>
        <p:spPr>
          <a:xfrm>
            <a:off x="6789419" y="3735766"/>
            <a:ext cx="1417319" cy="274320"/>
          </a:xfrm>
          <a:prstGeom prst="rect">
            <a:avLst/>
          </a:prstGeom>
          <a:noFill/>
        </p:spPr>
        <p:txBody>
          <a:bodyPr wrap="square" lIns="0" tIns="0" rIns="0" bIns="0" anchor="t">
            <a:spAutoFit/>
          </a:bodyPr>
          <a:lstStyle/>
          <a:p>
            <a:pPr algn="ctr">
              <a:lnSpc>
                <a:spcPct val="100000"/>
              </a:lnSpc>
            </a:pPr>
            <a:r>
              <a:rPr sz="1000" b="1">
                <a:solidFill>
                  <a:srgbClr val="64748B"/>
                </a:solidFill>
                <a:latin typeface="Calibri"/>
              </a:rPr>
              <a:t>7ch device</a:t>
            </a:r>
          </a:p>
        </p:txBody>
      </p:sp>
      <p:sp>
        <p:nvSpPr>
          <p:cNvPr id="23" name="TextBox 22"/>
          <p:cNvSpPr txBox="1"/>
          <p:nvPr/>
        </p:nvSpPr>
        <p:spPr>
          <a:xfrm>
            <a:off x="8458200" y="2523454"/>
            <a:ext cx="2583180" cy="722827"/>
          </a:xfrm>
          <a:prstGeom prst="rect">
            <a:avLst/>
          </a:prstGeom>
          <a:noFill/>
        </p:spPr>
        <p:txBody>
          <a:bodyPr wrap="square" lIns="0" tIns="0" rIns="0" bIns="0" anchor="t">
            <a:spAutoFit/>
          </a:bodyPr>
          <a:lstStyle/>
          <a:p>
            <a:pPr algn="l">
              <a:lnSpc>
                <a:spcPct val="108000"/>
              </a:lnSpc>
            </a:pPr>
            <a:r>
              <a:rPr sz="1100" b="1" dirty="0">
                <a:solidFill>
                  <a:srgbClr val="1E293B"/>
                </a:solidFill>
                <a:latin typeface="Calibri"/>
              </a:rPr>
              <a:t>Only 1.9 points lost </a:t>
            </a:r>
            <a:r>
              <a:rPr sz="1100" b="0" dirty="0">
                <a:solidFill>
                  <a:srgbClr val="64748B"/>
                </a:solidFill>
                <a:latin typeface="Calibri"/>
              </a:rPr>
              <a:t>dropping from 60 channels to 7. The intensity signal is concentrated, not spread, so the montage is cheap.</a:t>
            </a:r>
          </a:p>
        </p:txBody>
      </p:sp>
      <p:sp>
        <p:nvSpPr>
          <p:cNvPr id="24" name="TextBox 23"/>
          <p:cNvSpPr txBox="1"/>
          <p:nvPr/>
        </p:nvSpPr>
        <p:spPr>
          <a:xfrm>
            <a:off x="8469630" y="3328416"/>
            <a:ext cx="2177034" cy="153888"/>
          </a:xfrm>
          <a:prstGeom prst="rect">
            <a:avLst/>
          </a:prstGeom>
          <a:noFill/>
        </p:spPr>
        <p:txBody>
          <a:bodyPr wrap="square" lIns="0" tIns="0" rIns="0" bIns="0" anchor="t">
            <a:spAutoFit/>
          </a:bodyPr>
          <a:lstStyle/>
          <a:p>
            <a:pPr algn="l">
              <a:lnSpc>
                <a:spcPct val="100000"/>
              </a:lnSpc>
            </a:pPr>
            <a:r>
              <a:rPr sz="1000" b="1" dirty="0">
                <a:solidFill>
                  <a:srgbClr val="1C7293"/>
                </a:solidFill>
                <a:latin typeface="Calibri"/>
              </a:rPr>
              <a:t>7ch is 1.79x chance (33%).</a:t>
            </a:r>
          </a:p>
        </p:txBody>
      </p:sp>
      <p:sp>
        <p:nvSpPr>
          <p:cNvPr id="25" name="Rounded Rectangle 24"/>
          <p:cNvSpPr/>
          <p:nvPr/>
        </p:nvSpPr>
        <p:spPr>
          <a:xfrm>
            <a:off x="548640" y="4559458"/>
            <a:ext cx="681228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4724050"/>
            <a:ext cx="2194560" cy="274320"/>
          </a:xfrm>
          <a:prstGeom prst="rect">
            <a:avLst/>
          </a:prstGeom>
          <a:noFill/>
        </p:spPr>
        <p:txBody>
          <a:bodyPr wrap="square" lIns="0" tIns="0" rIns="0" bIns="0" anchor="t">
            <a:spAutoFit/>
          </a:bodyPr>
          <a:lstStyle/>
          <a:p>
            <a:pPr algn="l">
              <a:lnSpc>
                <a:spcPct val="100000"/>
              </a:lnSpc>
            </a:pPr>
            <a:r>
              <a:rPr sz="1100" b="1">
                <a:solidFill>
                  <a:srgbClr val="64748B"/>
                </a:solidFill>
                <a:latin typeface="Calibri"/>
              </a:rPr>
              <a:t>LOSO (cross-subject)</a:t>
            </a:r>
          </a:p>
        </p:txBody>
      </p:sp>
      <p:sp>
        <p:nvSpPr>
          <p:cNvPr id="27" name="TextBox 26"/>
          <p:cNvSpPr txBox="1"/>
          <p:nvPr/>
        </p:nvSpPr>
        <p:spPr>
          <a:xfrm>
            <a:off x="777240" y="4970938"/>
            <a:ext cx="2194560" cy="457200"/>
          </a:xfrm>
          <a:prstGeom prst="rect">
            <a:avLst/>
          </a:prstGeom>
          <a:noFill/>
        </p:spPr>
        <p:txBody>
          <a:bodyPr wrap="square" lIns="0" tIns="0" rIns="0" bIns="0" anchor="t">
            <a:spAutoFit/>
          </a:bodyPr>
          <a:lstStyle/>
          <a:p>
            <a:pPr algn="l">
              <a:lnSpc>
                <a:spcPct val="100000"/>
              </a:lnSpc>
            </a:pPr>
            <a:r>
              <a:rPr sz="2100" b="1" dirty="0">
                <a:solidFill>
                  <a:srgbClr val="1C7293"/>
                </a:solidFill>
                <a:latin typeface="Cambria"/>
              </a:rPr>
              <a:t>61.7%  →  59.8%</a:t>
            </a:r>
          </a:p>
        </p:txBody>
      </p:sp>
      <p:sp>
        <p:nvSpPr>
          <p:cNvPr id="28" name="TextBox 27"/>
          <p:cNvSpPr txBox="1"/>
          <p:nvPr/>
        </p:nvSpPr>
        <p:spPr>
          <a:xfrm>
            <a:off x="777240" y="5428138"/>
            <a:ext cx="2377440" cy="274320"/>
          </a:xfrm>
          <a:prstGeom prst="rect">
            <a:avLst/>
          </a:prstGeom>
          <a:noFill/>
        </p:spPr>
        <p:txBody>
          <a:bodyPr wrap="square" lIns="0" tIns="0" rIns="0" bIns="0" anchor="t">
            <a:spAutoFit/>
          </a:bodyPr>
          <a:lstStyle/>
          <a:p>
            <a:pPr algn="l">
              <a:lnSpc>
                <a:spcPct val="100000"/>
              </a:lnSpc>
            </a:pPr>
            <a:r>
              <a:rPr sz="950" b="0">
                <a:solidFill>
                  <a:srgbClr val="64748B"/>
                </a:solidFill>
                <a:latin typeface="Calibri"/>
              </a:rPr>
              <a:t>60ch → 7ch</a:t>
            </a:r>
          </a:p>
        </p:txBody>
      </p:sp>
      <p:sp>
        <p:nvSpPr>
          <p:cNvPr id="29" name="TextBox 28"/>
          <p:cNvSpPr txBox="1"/>
          <p:nvPr/>
        </p:nvSpPr>
        <p:spPr>
          <a:xfrm>
            <a:off x="3108960" y="4724050"/>
            <a:ext cx="2194560" cy="274320"/>
          </a:xfrm>
          <a:prstGeom prst="rect">
            <a:avLst/>
          </a:prstGeom>
          <a:noFill/>
        </p:spPr>
        <p:txBody>
          <a:bodyPr wrap="square" lIns="0" tIns="0" rIns="0" bIns="0" anchor="t">
            <a:spAutoFit/>
          </a:bodyPr>
          <a:lstStyle/>
          <a:p>
            <a:pPr algn="l">
              <a:lnSpc>
                <a:spcPct val="100000"/>
              </a:lnSpc>
            </a:pPr>
            <a:r>
              <a:rPr sz="1100" b="1">
                <a:solidFill>
                  <a:srgbClr val="64748B"/>
                </a:solidFill>
                <a:latin typeface="Calibri"/>
              </a:rPr>
              <a:t>Within-subject</a:t>
            </a:r>
          </a:p>
        </p:txBody>
      </p:sp>
      <p:sp>
        <p:nvSpPr>
          <p:cNvPr id="30" name="TextBox 29"/>
          <p:cNvSpPr txBox="1"/>
          <p:nvPr/>
        </p:nvSpPr>
        <p:spPr>
          <a:xfrm>
            <a:off x="3108960" y="4970938"/>
            <a:ext cx="2194560" cy="457200"/>
          </a:xfrm>
          <a:prstGeom prst="rect">
            <a:avLst/>
          </a:prstGeom>
          <a:noFill/>
        </p:spPr>
        <p:txBody>
          <a:bodyPr wrap="square" lIns="0" tIns="0" rIns="0" bIns="0" anchor="t">
            <a:spAutoFit/>
          </a:bodyPr>
          <a:lstStyle/>
          <a:p>
            <a:pPr algn="l">
              <a:lnSpc>
                <a:spcPct val="100000"/>
              </a:lnSpc>
            </a:pPr>
            <a:r>
              <a:rPr sz="2100" b="1">
                <a:solidFill>
                  <a:srgbClr val="21295C"/>
                </a:solidFill>
                <a:latin typeface="Cambria"/>
              </a:rPr>
              <a:t>71.0%  →  68.1%</a:t>
            </a:r>
          </a:p>
        </p:txBody>
      </p:sp>
      <p:sp>
        <p:nvSpPr>
          <p:cNvPr id="31" name="TextBox 30"/>
          <p:cNvSpPr txBox="1"/>
          <p:nvPr/>
        </p:nvSpPr>
        <p:spPr>
          <a:xfrm>
            <a:off x="3108960" y="5428138"/>
            <a:ext cx="2377440" cy="274320"/>
          </a:xfrm>
          <a:prstGeom prst="rect">
            <a:avLst/>
          </a:prstGeom>
          <a:noFill/>
        </p:spPr>
        <p:txBody>
          <a:bodyPr wrap="square" lIns="0" tIns="0" rIns="0" bIns="0" anchor="t">
            <a:spAutoFit/>
          </a:bodyPr>
          <a:lstStyle/>
          <a:p>
            <a:pPr algn="l">
              <a:lnSpc>
                <a:spcPct val="100000"/>
              </a:lnSpc>
            </a:pPr>
            <a:r>
              <a:rPr sz="950" b="0">
                <a:solidFill>
                  <a:srgbClr val="64748B"/>
                </a:solidFill>
                <a:latin typeface="Calibri"/>
              </a:rPr>
              <a:t>60ch → 7ch</a:t>
            </a:r>
          </a:p>
        </p:txBody>
      </p:sp>
      <p:sp>
        <p:nvSpPr>
          <p:cNvPr id="32" name="TextBox 31"/>
          <p:cNvSpPr txBox="1"/>
          <p:nvPr/>
        </p:nvSpPr>
        <p:spPr>
          <a:xfrm>
            <a:off x="5417820" y="4998370"/>
            <a:ext cx="1760220" cy="454292"/>
          </a:xfrm>
          <a:prstGeom prst="rect">
            <a:avLst/>
          </a:prstGeom>
          <a:noFill/>
        </p:spPr>
        <p:txBody>
          <a:bodyPr wrap="square" lIns="0" tIns="0" rIns="0" bIns="0" anchor="t">
            <a:spAutoFit/>
          </a:bodyPr>
          <a:lstStyle/>
          <a:p>
            <a:pPr algn="l">
              <a:lnSpc>
                <a:spcPct val="105000"/>
              </a:lnSpc>
            </a:pPr>
            <a:r>
              <a:rPr sz="950" b="1" dirty="0">
                <a:solidFill>
                  <a:srgbClr val="1E293B"/>
                </a:solidFill>
                <a:latin typeface="Calibri"/>
              </a:rPr>
              <a:t>Under 2 pts lost. </a:t>
            </a:r>
            <a:r>
              <a:rPr sz="950" b="0" dirty="0">
                <a:solidFill>
                  <a:srgbClr val="64748B"/>
                </a:solidFill>
                <a:latin typeface="Calibri"/>
              </a:rPr>
              <a:t>7 </a:t>
            </a:r>
            <a:r>
              <a:rPr sz="950" b="0" dirty="0" err="1">
                <a:solidFill>
                  <a:srgbClr val="64748B"/>
                </a:solidFill>
                <a:latin typeface="Calibri"/>
              </a:rPr>
              <a:t>fronto</a:t>
            </a:r>
            <a:r>
              <a:rPr sz="950" b="0" dirty="0">
                <a:solidFill>
                  <a:srgbClr val="64748B"/>
                </a:solidFill>
                <a:latin typeface="Calibri"/>
              </a:rPr>
              <a:t>-central channels retain ~97% of full-montage LOSO accuracy.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LDA · 3-CLASS · BALANCED (40/40/40)</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Removing no-stimulation: the pure-intensity question</a:t>
            </a:r>
            <a:endParaRPr lang="en-US" sz="3000" dirty="0"/>
          </a:p>
        </p:txBody>
      </p:sp>
      <p:sp>
        <p:nvSpPr>
          <p:cNvPr id="4" name="Shape 2"/>
          <p:cNvSpPr/>
          <p:nvPr/>
        </p:nvSpPr>
        <p:spPr>
          <a:xfrm>
            <a:off x="548640" y="1463040"/>
            <a:ext cx="5943600" cy="3703320"/>
          </a:xfrm>
          <a:prstGeom prst="roundRect">
            <a:avLst>
              <a:gd name="adj" fmla="val 1975"/>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5" name="Image 0" descr="assets/compare.png"/>
          <p:cNvPicPr>
            <a:picLocks noChangeAspect="1"/>
          </p:cNvPicPr>
          <p:nvPr/>
        </p:nvPicPr>
        <p:blipFill>
          <a:blip r:embed="rId2"/>
          <a:stretch>
            <a:fillRect/>
          </a:stretch>
        </p:blipFill>
        <p:spPr>
          <a:xfrm>
            <a:off x="777240" y="1783080"/>
            <a:ext cx="5486400" cy="2722487"/>
          </a:xfrm>
          <a:prstGeom prst="rect">
            <a:avLst/>
          </a:prstGeom>
        </p:spPr>
      </p:pic>
      <p:sp>
        <p:nvSpPr>
          <p:cNvPr id="6" name="Shape 3"/>
          <p:cNvSpPr/>
          <p:nvPr/>
        </p:nvSpPr>
        <p:spPr>
          <a:xfrm>
            <a:off x="6720840" y="150876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7" name="Shape 4"/>
          <p:cNvSpPr/>
          <p:nvPr/>
        </p:nvSpPr>
        <p:spPr>
          <a:xfrm>
            <a:off x="6949440" y="1755648"/>
            <a:ext cx="256032" cy="256032"/>
          </a:xfrm>
          <a:prstGeom prst="ellipse">
            <a:avLst/>
          </a:prstGeom>
          <a:solidFill>
            <a:srgbClr val="1C7293"/>
          </a:solidFill>
          <a:ln/>
        </p:spPr>
        <p:txBody>
          <a:bodyPr/>
          <a:lstStyle/>
          <a:p>
            <a:endParaRPr lang="en-US"/>
          </a:p>
        </p:txBody>
      </p:sp>
      <p:sp>
        <p:nvSpPr>
          <p:cNvPr id="8" name="Text 5"/>
          <p:cNvSpPr/>
          <p:nvPr/>
        </p:nvSpPr>
        <p:spPr>
          <a:xfrm>
            <a:off x="7360920" y="166420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40 / 80 / 40  (with no-stim)</a:t>
            </a:r>
            <a:endParaRPr lang="en-US" sz="1500" dirty="0"/>
          </a:p>
        </p:txBody>
      </p:sp>
      <p:sp>
        <p:nvSpPr>
          <p:cNvPr id="9" name="Text 6"/>
          <p:cNvSpPr/>
          <p:nvPr/>
        </p:nvSpPr>
        <p:spPr>
          <a:xfrm>
            <a:off x="7360920" y="192481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Includes an easy stim-vs-no-stim contrast; the "medium" class is min+medium merged. erp+bp: LOSO 62.8% / 59.9% balanced.</a:t>
            </a:r>
            <a:endParaRPr lang="en-US" sz="1050" dirty="0"/>
          </a:p>
        </p:txBody>
      </p:sp>
      <p:sp>
        <p:nvSpPr>
          <p:cNvPr id="10" name="Shape 7"/>
          <p:cNvSpPr/>
          <p:nvPr/>
        </p:nvSpPr>
        <p:spPr>
          <a:xfrm>
            <a:off x="6720840" y="278892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949440" y="3035808"/>
            <a:ext cx="256032" cy="256032"/>
          </a:xfrm>
          <a:prstGeom prst="ellipse">
            <a:avLst/>
          </a:prstGeom>
          <a:solidFill>
            <a:srgbClr val="065A82"/>
          </a:solidFill>
          <a:ln/>
        </p:spPr>
        <p:txBody>
          <a:bodyPr/>
          <a:lstStyle/>
          <a:p>
            <a:endParaRPr lang="en-US"/>
          </a:p>
        </p:txBody>
      </p:sp>
      <p:sp>
        <p:nvSpPr>
          <p:cNvPr id="12" name="Text 9"/>
          <p:cNvSpPr/>
          <p:nvPr/>
        </p:nvSpPr>
        <p:spPr>
          <a:xfrm>
            <a:off x="7360920" y="294436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40 / 40 / 40  (balanced)</a:t>
            </a:r>
            <a:endParaRPr lang="en-US" sz="1500" dirty="0"/>
          </a:p>
        </p:txBody>
      </p:sp>
      <p:sp>
        <p:nvSpPr>
          <p:cNvPr id="13" name="Text 10"/>
          <p:cNvSpPr/>
          <p:nvPr/>
        </p:nvSpPr>
        <p:spPr>
          <a:xfrm>
            <a:off x="7360920" y="320497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no_stimulation dropped; min vs medium vs max only. erp+bp: LOSO 58.0% / 58.1% balanced, within-subject 69.0%.</a:t>
            </a:r>
            <a:endParaRPr lang="en-US" sz="1050" dirty="0"/>
          </a:p>
        </p:txBody>
      </p:sp>
      <p:sp>
        <p:nvSpPr>
          <p:cNvPr id="14" name="Shape 11"/>
          <p:cNvSpPr/>
          <p:nvPr/>
        </p:nvSpPr>
        <p:spPr>
          <a:xfrm>
            <a:off x="6720840" y="406908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5" name="Shape 12"/>
          <p:cNvSpPr/>
          <p:nvPr/>
        </p:nvSpPr>
        <p:spPr>
          <a:xfrm>
            <a:off x="6949440" y="4315968"/>
            <a:ext cx="256032" cy="256032"/>
          </a:xfrm>
          <a:prstGeom prst="ellipse">
            <a:avLst/>
          </a:prstGeom>
          <a:solidFill>
            <a:srgbClr val="B85042"/>
          </a:solidFill>
          <a:ln/>
        </p:spPr>
        <p:txBody>
          <a:bodyPr/>
          <a:lstStyle/>
          <a:p>
            <a:endParaRPr lang="en-US"/>
          </a:p>
        </p:txBody>
      </p:sp>
      <p:sp>
        <p:nvSpPr>
          <p:cNvPr id="16" name="Text 13"/>
          <p:cNvSpPr/>
          <p:nvPr/>
        </p:nvSpPr>
        <p:spPr>
          <a:xfrm>
            <a:off x="7360920" y="422452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What it proves</a:t>
            </a:r>
            <a:endParaRPr lang="en-US" sz="1500" dirty="0"/>
          </a:p>
        </p:txBody>
      </p:sp>
      <p:sp>
        <p:nvSpPr>
          <p:cNvPr id="17" name="Text 14"/>
          <p:cNvSpPr/>
          <p:nvPr/>
        </p:nvSpPr>
        <p:spPr>
          <a:xfrm>
            <a:off x="7360920" y="448513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Only a modest drop without the easy class — the decoder genuinely separates graded intensity, not just whether a pulse occurred.</a:t>
            </a:r>
            <a:endParaRPr lang="en-US" sz="1050" dirty="0"/>
          </a:p>
        </p:txBody>
      </p:sp>
      <p:sp>
        <p:nvSpPr>
          <p:cNvPr id="18" name="Shape 15"/>
          <p:cNvSpPr/>
          <p:nvPr/>
        </p:nvSpPr>
        <p:spPr>
          <a:xfrm>
            <a:off x="548640" y="5349240"/>
            <a:ext cx="11064240" cy="960120"/>
          </a:xfrm>
          <a:prstGeom prst="roundRect">
            <a:avLst>
              <a:gd name="adj" fmla="val 7619"/>
            </a:avLst>
          </a:prstGeom>
          <a:solidFill>
            <a:srgbClr val="21295C"/>
          </a:solidFill>
          <a:ln/>
          <a:effectLst>
            <a:outerShdw blurRad="88900" dist="38100" dir="5400000" algn="bl" rotWithShape="0">
              <a:srgbClr val="000000">
                <a:alpha val="13000"/>
              </a:srgbClr>
            </a:outerShdw>
          </a:effectLst>
        </p:spPr>
        <p:txBody>
          <a:bodyPr/>
          <a:lstStyle/>
          <a:p>
            <a:endParaRPr lang="en-US"/>
          </a:p>
        </p:txBody>
      </p:sp>
      <p:sp>
        <p:nvSpPr>
          <p:cNvPr id="19" name="Text 16"/>
          <p:cNvSpPr/>
          <p:nvPr/>
        </p:nvSpPr>
        <p:spPr>
          <a:xfrm>
            <a:off x="868680" y="5486400"/>
            <a:ext cx="10424160" cy="685800"/>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cs typeface="Calibri" pitchFamily="34" charset="-120"/>
              </a:rPr>
              <a:t>Balancing to 40/40/40 isolates the real question — discriminating stimulation levels. Chance is a clean 33%, so accuracy is directly interpretable with no majority-class caveat.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LDA · 4-CLASS</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Features, pipeline, and per-model performance</a:t>
            </a:r>
            <a:endParaRPr lang="en-US" sz="3000" dirty="0"/>
          </a:p>
        </p:txBody>
      </p:sp>
      <p:sp>
        <p:nvSpPr>
          <p:cNvPr id="4" name="Shape 2"/>
          <p:cNvSpPr/>
          <p:nvPr/>
        </p:nvSpPr>
        <p:spPr>
          <a:xfrm>
            <a:off x="548640" y="1463040"/>
            <a:ext cx="4023360" cy="2788920"/>
          </a:xfrm>
          <a:prstGeom prst="roundRect">
            <a:avLst>
              <a:gd name="adj" fmla="val 2623"/>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5" name="Text 3"/>
          <p:cNvSpPr/>
          <p:nvPr/>
        </p:nvSpPr>
        <p:spPr>
          <a:xfrm>
            <a:off x="777240" y="1627632"/>
            <a:ext cx="356616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Three feature pipelines</a:t>
            </a:r>
            <a:endParaRPr lang="en-US" sz="1500" dirty="0"/>
          </a:p>
        </p:txBody>
      </p:sp>
      <p:sp>
        <p:nvSpPr>
          <p:cNvPr id="6" name="Text 4"/>
          <p:cNvSpPr/>
          <p:nvPr/>
        </p:nvSpPr>
        <p:spPr>
          <a:xfrm>
            <a:off x="777240" y="1970532"/>
            <a:ext cx="356616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ERP (time)</a:t>
            </a:r>
            <a:endParaRPr lang="en-US" sz="1200" dirty="0"/>
          </a:p>
        </p:txBody>
      </p:sp>
      <p:sp>
        <p:nvSpPr>
          <p:cNvPr id="7" name="Text 5"/>
          <p:cNvSpPr/>
          <p:nvPr/>
        </p:nvSpPr>
        <p:spPr>
          <a:xfrm>
            <a:off x="777240" y="2226564"/>
            <a:ext cx="3566160" cy="502920"/>
          </a:xfrm>
          <a:prstGeom prst="rect">
            <a:avLst/>
          </a:prstGeom>
          <a:noFill/>
          <a:ln/>
        </p:spPr>
        <p:txBody>
          <a:bodyPr wrap="square" lIns="0" tIns="0" rIns="0" bIns="0" rtlCol="0" anchor="ctr"/>
          <a:lstStyle/>
          <a:p>
            <a:pPr marL="0" indent="0">
              <a:lnSpc>
                <a:spcPct val="100000"/>
              </a:lnSpc>
              <a:buNone/>
            </a:pPr>
            <a:r>
              <a:rPr lang="en-US" sz="1000" dirty="0">
                <a:solidFill>
                  <a:srgbClr val="64748B"/>
                </a:solidFill>
                <a:latin typeface="Calibri" pitchFamily="34" charset="0"/>
                <a:ea typeface="Calibri" pitchFamily="34" charset="-122"/>
                <a:cs typeface="Calibri" pitchFamily="34" charset="-120"/>
              </a:rPr>
              <a:t>Peak amplitude/latency &amp; mean-window features on 8 central channels — the evoked SEP.</a:t>
            </a:r>
            <a:endParaRPr lang="en-US" sz="1000" dirty="0"/>
          </a:p>
        </p:txBody>
      </p:sp>
      <p:sp>
        <p:nvSpPr>
          <p:cNvPr id="8" name="Text 6"/>
          <p:cNvSpPr/>
          <p:nvPr/>
        </p:nvSpPr>
        <p:spPr>
          <a:xfrm>
            <a:off x="777240" y="2692908"/>
            <a:ext cx="356616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Band-power (freq)</a:t>
            </a:r>
            <a:endParaRPr lang="en-US" sz="1200" dirty="0"/>
          </a:p>
        </p:txBody>
      </p:sp>
      <p:sp>
        <p:nvSpPr>
          <p:cNvPr id="9" name="Text 7"/>
          <p:cNvSpPr/>
          <p:nvPr/>
        </p:nvSpPr>
        <p:spPr>
          <a:xfrm>
            <a:off x="777240" y="2948940"/>
            <a:ext cx="3566160" cy="502920"/>
          </a:xfrm>
          <a:prstGeom prst="rect">
            <a:avLst/>
          </a:prstGeom>
          <a:noFill/>
          <a:ln/>
        </p:spPr>
        <p:txBody>
          <a:bodyPr wrap="square" lIns="0" tIns="0" rIns="0" bIns="0" rtlCol="0" anchor="ctr"/>
          <a:lstStyle/>
          <a:p>
            <a:pPr marL="0" indent="0">
              <a:lnSpc>
                <a:spcPct val="100000"/>
              </a:lnSpc>
              <a:buNone/>
            </a:pPr>
            <a:r>
              <a:rPr lang="en-US" sz="1000" dirty="0">
                <a:solidFill>
                  <a:srgbClr val="64748B"/>
                </a:solidFill>
                <a:latin typeface="Calibri" pitchFamily="34" charset="0"/>
                <a:ea typeface="Calibri" pitchFamily="34" charset="-122"/>
                <a:cs typeface="Calibri" pitchFamily="34" charset="-120"/>
              </a:rPr>
              <a:t>log Welch PSD in delta/theta/alpha/beta/gamma across all 60 channels — the induced response.</a:t>
            </a:r>
            <a:endParaRPr lang="en-US" sz="1000" dirty="0"/>
          </a:p>
        </p:txBody>
      </p:sp>
      <p:sp>
        <p:nvSpPr>
          <p:cNvPr id="10" name="Text 8"/>
          <p:cNvSpPr/>
          <p:nvPr/>
        </p:nvSpPr>
        <p:spPr>
          <a:xfrm>
            <a:off x="777240" y="3415284"/>
            <a:ext cx="3566160" cy="27432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Combined</a:t>
            </a:r>
            <a:endParaRPr lang="en-US" sz="1200" dirty="0"/>
          </a:p>
        </p:txBody>
      </p:sp>
      <p:sp>
        <p:nvSpPr>
          <p:cNvPr id="11" name="Text 9"/>
          <p:cNvSpPr/>
          <p:nvPr/>
        </p:nvSpPr>
        <p:spPr>
          <a:xfrm>
            <a:off x="777240" y="3671316"/>
            <a:ext cx="3566160" cy="502920"/>
          </a:xfrm>
          <a:prstGeom prst="rect">
            <a:avLst/>
          </a:prstGeom>
          <a:noFill/>
          <a:ln/>
        </p:spPr>
        <p:txBody>
          <a:bodyPr wrap="square" lIns="0" tIns="0" rIns="0" bIns="0" rtlCol="0" anchor="ctr"/>
          <a:lstStyle/>
          <a:p>
            <a:pPr marL="0" indent="0">
              <a:lnSpc>
                <a:spcPct val="100000"/>
              </a:lnSpc>
              <a:buNone/>
            </a:pPr>
            <a:r>
              <a:rPr lang="en-US" sz="1000" dirty="0">
                <a:solidFill>
                  <a:srgbClr val="64748B"/>
                </a:solidFill>
                <a:latin typeface="Calibri" pitchFamily="34" charset="0"/>
                <a:ea typeface="Calibri" pitchFamily="34" charset="-122"/>
                <a:cs typeface="Calibri" pitchFamily="34" charset="-120"/>
              </a:rPr>
              <a:t>ERP ⊕ band-power concatenated — distinct neural phenomena, non-redundant features.</a:t>
            </a:r>
            <a:endParaRPr lang="en-US" sz="1000" dirty="0"/>
          </a:p>
        </p:txBody>
      </p:sp>
      <p:sp>
        <p:nvSpPr>
          <p:cNvPr id="12" name="Shape 10"/>
          <p:cNvSpPr/>
          <p:nvPr/>
        </p:nvSpPr>
        <p:spPr>
          <a:xfrm>
            <a:off x="548640" y="4370832"/>
            <a:ext cx="4023360" cy="1920240"/>
          </a:xfrm>
          <a:prstGeom prst="roundRect">
            <a:avLst>
              <a:gd name="adj" fmla="val 381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3" name="Text 11"/>
          <p:cNvSpPr/>
          <p:nvPr/>
        </p:nvSpPr>
        <p:spPr>
          <a:xfrm>
            <a:off x="777240" y="4498848"/>
            <a:ext cx="3657600" cy="292608"/>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Validation pipeline</a:t>
            </a:r>
            <a:endParaRPr lang="en-US" sz="1400" dirty="0"/>
          </a:p>
        </p:txBody>
      </p:sp>
      <p:sp>
        <p:nvSpPr>
          <p:cNvPr id="14" name="Text 12"/>
          <p:cNvSpPr/>
          <p:nvPr/>
        </p:nvSpPr>
        <p:spPr>
          <a:xfrm>
            <a:off x="777240" y="4864608"/>
            <a:ext cx="3657600" cy="365760"/>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features</a:t>
            </a:r>
            <a:r>
              <a:rPr lang="en-US" sz="1150" dirty="0">
                <a:solidFill>
                  <a:srgbClr val="64748B"/>
                </a:solidFill>
                <a:latin typeface="Calibri" pitchFamily="34" charset="0"/>
                <a:ea typeface="Calibri" pitchFamily="34" charset="-122"/>
                <a:cs typeface="Calibri" pitchFamily="34" charset="-120"/>
              </a:rPr>
              <a:t>  →  </a:t>
            </a:r>
            <a:r>
              <a:rPr lang="en-US" sz="1150" b="1" dirty="0">
                <a:solidFill>
                  <a:srgbClr val="1C7293"/>
                </a:solidFill>
                <a:latin typeface="Calibri" pitchFamily="34" charset="0"/>
                <a:ea typeface="Calibri" pitchFamily="34" charset="-122"/>
                <a:cs typeface="Calibri" pitchFamily="34" charset="-120"/>
              </a:rPr>
              <a:t>StandardScaler</a:t>
            </a:r>
            <a:r>
              <a:rPr lang="en-US" sz="1150" dirty="0">
                <a:solidFill>
                  <a:srgbClr val="64748B"/>
                </a:solidFill>
                <a:latin typeface="Calibri" pitchFamily="34" charset="0"/>
                <a:ea typeface="Calibri" pitchFamily="34" charset="-122"/>
                <a:cs typeface="Calibri" pitchFamily="34" charset="-120"/>
              </a:rPr>
              <a:t>  →  </a:t>
            </a:r>
            <a:r>
              <a:rPr lang="en-US" sz="1150" b="1" dirty="0">
                <a:solidFill>
                  <a:srgbClr val="1C7293"/>
                </a:solidFill>
                <a:latin typeface="Calibri" pitchFamily="34" charset="0"/>
                <a:ea typeface="Calibri" pitchFamily="34" charset="-122"/>
                <a:cs typeface="Calibri" pitchFamily="34" charset="-120"/>
              </a:rPr>
              <a:t>shrinkage-LDA</a:t>
            </a:r>
            <a:endParaRPr lang="en-US" sz="1150" dirty="0"/>
          </a:p>
        </p:txBody>
      </p:sp>
      <p:sp>
        <p:nvSpPr>
          <p:cNvPr id="15" name="Text 13"/>
          <p:cNvSpPr/>
          <p:nvPr/>
        </p:nvSpPr>
        <p:spPr>
          <a:xfrm>
            <a:off x="777240" y="5285232"/>
            <a:ext cx="3657600" cy="914400"/>
          </a:xfrm>
          <a:prstGeom prst="rect">
            <a:avLst/>
          </a:prstGeom>
          <a:noFill/>
          <a:ln/>
        </p:spPr>
        <p:txBody>
          <a:bodyPr wrap="square" lIns="0" tIns="0" rIns="0" bIns="0" rtlCol="0" anchor="t"/>
          <a:lstStyle/>
          <a:p>
            <a:pPr marL="0" indent="0">
              <a:lnSpc>
                <a:spcPct val="105000"/>
              </a:lnSpc>
              <a:buNone/>
            </a:pPr>
            <a:r>
              <a:rPr lang="en-US" sz="1000" b="1" dirty="0">
                <a:solidFill>
                  <a:srgbClr val="1E293B"/>
                </a:solidFill>
                <a:latin typeface="Calibri" pitchFamily="34" charset="0"/>
                <a:ea typeface="Calibri" pitchFamily="34" charset="-122"/>
                <a:cs typeface="Calibri" pitchFamily="34" charset="-120"/>
              </a:rPr>
              <a:t>Same leakage-safe design. </a:t>
            </a:r>
            <a:r>
              <a:rPr lang="en-US" sz="1000" dirty="0">
                <a:solidFill>
                  <a:srgbClr val="64748B"/>
                </a:solidFill>
                <a:latin typeface="Calibri" pitchFamily="34" charset="0"/>
                <a:ea typeface="Calibri" pitchFamily="34" charset="-122"/>
                <a:cs typeface="Calibri" pitchFamily="34" charset="-120"/>
              </a:rPr>
              <a:t>4th class (min_intensity) is the only difference — it sits between no-stim and medium.</a:t>
            </a:r>
            <a:endParaRPr lang="en-US" sz="1000" dirty="0"/>
          </a:p>
        </p:txBody>
      </p:sp>
      <p:sp>
        <p:nvSpPr>
          <p:cNvPr id="16" name="Shape 14"/>
          <p:cNvSpPr/>
          <p:nvPr/>
        </p:nvSpPr>
        <p:spPr>
          <a:xfrm>
            <a:off x="4800600" y="1463040"/>
            <a:ext cx="6812280" cy="3063240"/>
          </a:xfrm>
          <a:prstGeom prst="roundRect">
            <a:avLst>
              <a:gd name="adj" fmla="val 2388"/>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17" name="Image 0" descr="assets/lda_4c.png"/>
          <p:cNvPicPr>
            <a:picLocks noChangeAspect="1"/>
          </p:cNvPicPr>
          <p:nvPr/>
        </p:nvPicPr>
        <p:blipFill>
          <a:blip r:embed="rId3"/>
          <a:stretch>
            <a:fillRect/>
          </a:stretch>
        </p:blipFill>
        <p:spPr>
          <a:xfrm>
            <a:off x="5029200" y="1711946"/>
            <a:ext cx="1822014" cy="1057218"/>
          </a:xfrm>
          <a:prstGeom prst="rect">
            <a:avLst/>
          </a:prstGeom>
        </p:spPr>
      </p:pic>
      <p:sp>
        <p:nvSpPr>
          <p:cNvPr id="20" name="Shape 16"/>
          <p:cNvSpPr/>
          <p:nvPr/>
        </p:nvSpPr>
        <p:spPr>
          <a:xfrm>
            <a:off x="4800600" y="4663440"/>
            <a:ext cx="6812280" cy="1627632"/>
          </a:xfrm>
          <a:prstGeom prst="roundRect">
            <a:avLst>
              <a:gd name="adj" fmla="val 4494"/>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21" name="Text 17"/>
          <p:cNvSpPr/>
          <p:nvPr/>
        </p:nvSpPr>
        <p:spPr>
          <a:xfrm>
            <a:off x="7360920" y="4832779"/>
            <a:ext cx="2194560" cy="27432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LOSO (cross-subject)</a:t>
            </a:r>
            <a:endParaRPr lang="en-US" sz="1100" dirty="0"/>
          </a:p>
        </p:txBody>
      </p:sp>
      <p:sp>
        <p:nvSpPr>
          <p:cNvPr id="22" name="Text 18"/>
          <p:cNvSpPr/>
          <p:nvPr/>
        </p:nvSpPr>
        <p:spPr>
          <a:xfrm>
            <a:off x="7360920" y="5079667"/>
            <a:ext cx="2194560" cy="457200"/>
          </a:xfrm>
          <a:prstGeom prst="rect">
            <a:avLst/>
          </a:prstGeom>
          <a:noFill/>
          <a:ln/>
        </p:spPr>
        <p:txBody>
          <a:bodyPr wrap="square" lIns="0" tIns="0" rIns="0" bIns="0" rtlCol="0" anchor="ctr"/>
          <a:lstStyle/>
          <a:p>
            <a:pPr marL="0" indent="0">
              <a:buNone/>
            </a:pPr>
            <a:r>
              <a:rPr lang="en-US" sz="2100" b="1" dirty="0">
                <a:solidFill>
                  <a:srgbClr val="1C7293"/>
                </a:solidFill>
                <a:latin typeface="Cambria" pitchFamily="34" charset="0"/>
                <a:ea typeface="Cambria" pitchFamily="34" charset="-122"/>
                <a:cs typeface="Cambria" pitchFamily="34" charset="-120"/>
              </a:rPr>
              <a:t>44.8 / 44.2 / 48.7</a:t>
            </a:r>
            <a:endParaRPr lang="en-US" sz="2100" dirty="0"/>
          </a:p>
        </p:txBody>
      </p:sp>
      <p:sp>
        <p:nvSpPr>
          <p:cNvPr id="23" name="Text 19"/>
          <p:cNvSpPr/>
          <p:nvPr/>
        </p:nvSpPr>
        <p:spPr>
          <a:xfrm>
            <a:off x="7360920" y="5536867"/>
            <a:ext cx="2194560" cy="2743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ERP / BP / Combined %</a:t>
            </a:r>
            <a:endParaRPr lang="en-US" sz="950" dirty="0"/>
          </a:p>
        </p:txBody>
      </p:sp>
      <p:sp>
        <p:nvSpPr>
          <p:cNvPr id="24" name="Text 20"/>
          <p:cNvSpPr/>
          <p:nvPr/>
        </p:nvSpPr>
        <p:spPr>
          <a:xfrm>
            <a:off x="5029200" y="4832779"/>
            <a:ext cx="2194560" cy="27432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Within-subject</a:t>
            </a:r>
            <a:endParaRPr lang="en-US" sz="1100" dirty="0"/>
          </a:p>
        </p:txBody>
      </p:sp>
      <p:sp>
        <p:nvSpPr>
          <p:cNvPr id="25" name="Text 21"/>
          <p:cNvSpPr/>
          <p:nvPr/>
        </p:nvSpPr>
        <p:spPr>
          <a:xfrm>
            <a:off x="5029200" y="5079667"/>
            <a:ext cx="2194560" cy="457200"/>
          </a:xfrm>
          <a:prstGeom prst="rect">
            <a:avLst/>
          </a:prstGeom>
          <a:noFill/>
          <a:ln/>
        </p:spPr>
        <p:txBody>
          <a:bodyPr wrap="square" lIns="0" tIns="0" rIns="0" bIns="0" rtlCol="0" anchor="ctr"/>
          <a:lstStyle/>
          <a:p>
            <a:pPr marL="0" indent="0">
              <a:buNone/>
            </a:pPr>
            <a:r>
              <a:rPr lang="en-US" sz="2100" b="1" dirty="0">
                <a:solidFill>
                  <a:srgbClr val="21295C"/>
                </a:solidFill>
                <a:latin typeface="Cambria" pitchFamily="34" charset="0"/>
                <a:ea typeface="Cambria" pitchFamily="34" charset="-122"/>
                <a:cs typeface="Cambria" pitchFamily="34" charset="-120"/>
              </a:rPr>
              <a:t>50.8 / 58.0 / 61.6</a:t>
            </a:r>
            <a:endParaRPr lang="en-US" sz="2100" dirty="0"/>
          </a:p>
        </p:txBody>
      </p:sp>
      <p:sp>
        <p:nvSpPr>
          <p:cNvPr id="26" name="Text 22"/>
          <p:cNvSpPr/>
          <p:nvPr/>
        </p:nvSpPr>
        <p:spPr>
          <a:xfrm>
            <a:off x="5029200" y="5536867"/>
            <a:ext cx="2194560" cy="2743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ERP / BP / Combined %</a:t>
            </a:r>
            <a:endParaRPr lang="en-US" sz="950" dirty="0"/>
          </a:p>
        </p:txBody>
      </p:sp>
      <p:sp>
        <p:nvSpPr>
          <p:cNvPr id="27" name="Text 23"/>
          <p:cNvSpPr/>
          <p:nvPr/>
        </p:nvSpPr>
        <p:spPr>
          <a:xfrm>
            <a:off x="9646920" y="4846320"/>
            <a:ext cx="1828800" cy="1280160"/>
          </a:xfrm>
          <a:prstGeom prst="rect">
            <a:avLst/>
          </a:prstGeom>
          <a:noFill/>
          <a:ln/>
        </p:spPr>
        <p:txBody>
          <a:bodyPr wrap="square" lIns="0" tIns="0" rIns="0" bIns="0" rtlCol="0" anchor="t"/>
          <a:lstStyle/>
          <a:p>
            <a:pPr marL="0" indent="0">
              <a:lnSpc>
                <a:spcPct val="105000"/>
              </a:lnSpc>
              <a:buNone/>
            </a:pPr>
            <a:r>
              <a:rPr lang="en-US" sz="950" b="1" dirty="0">
                <a:solidFill>
                  <a:srgbClr val="1E293B"/>
                </a:solidFill>
                <a:latin typeface="Calibri" pitchFamily="34" charset="0"/>
                <a:ea typeface="Calibri" pitchFamily="34" charset="-122"/>
                <a:cs typeface="Calibri" pitchFamily="34" charset="-120"/>
              </a:rPr>
              <a:t>Combined still best. </a:t>
            </a:r>
            <a:r>
              <a:rPr lang="en-US" sz="950" dirty="0">
                <a:solidFill>
                  <a:srgbClr val="64748B"/>
                </a:solidFill>
                <a:latin typeface="Calibri" pitchFamily="34" charset="0"/>
                <a:ea typeface="Calibri" pitchFamily="34" charset="-122"/>
                <a:cs typeface="Calibri" pitchFamily="34" charset="-120"/>
              </a:rPr>
              <a:t>Cross-subject the extra class costs ~13 pts vs 3-class; the min↔medium overlap is the ceiling.</a:t>
            </a:r>
            <a:endParaRPr lang="en-US" sz="950" dirty="0"/>
          </a:p>
        </p:txBody>
      </p:sp>
      <p:pic>
        <p:nvPicPr>
          <p:cNvPr id="33" name="Picture 32">
            <a:extLst>
              <a:ext uri="{FF2B5EF4-FFF2-40B4-BE49-F238E27FC236}">
                <a16:creationId xmlns:a16="http://schemas.microsoft.com/office/drawing/2014/main" id="{8F57F892-7DC9-8DB9-2621-2FDA6A2CA4A6}"/>
              </a:ext>
            </a:extLst>
          </p:cNvPr>
          <p:cNvPicPr>
            <a:picLocks noChangeAspect="1"/>
          </p:cNvPicPr>
          <p:nvPr/>
        </p:nvPicPr>
        <p:blipFill>
          <a:blip r:embed="rId4"/>
          <a:stretch>
            <a:fillRect/>
          </a:stretch>
        </p:blipFill>
        <p:spPr>
          <a:xfrm>
            <a:off x="6851214" y="1716242"/>
            <a:ext cx="1759311" cy="1052921"/>
          </a:xfrm>
          <a:prstGeom prst="rect">
            <a:avLst/>
          </a:prstGeom>
        </p:spPr>
      </p:pic>
      <p:pic>
        <p:nvPicPr>
          <p:cNvPr id="35" name="Picture 34">
            <a:extLst>
              <a:ext uri="{FF2B5EF4-FFF2-40B4-BE49-F238E27FC236}">
                <a16:creationId xmlns:a16="http://schemas.microsoft.com/office/drawing/2014/main" id="{D4BAF696-915C-7862-A0F4-354F3DE7E91E}"/>
              </a:ext>
            </a:extLst>
          </p:cNvPr>
          <p:cNvPicPr>
            <a:picLocks noChangeAspect="1"/>
          </p:cNvPicPr>
          <p:nvPr/>
        </p:nvPicPr>
        <p:blipFill>
          <a:blip r:embed="rId5"/>
          <a:stretch>
            <a:fillRect/>
          </a:stretch>
        </p:blipFill>
        <p:spPr>
          <a:xfrm>
            <a:off x="8610526" y="1716243"/>
            <a:ext cx="1423178" cy="1057218"/>
          </a:xfrm>
          <a:prstGeom prst="rect">
            <a:avLst/>
          </a:prstGeom>
        </p:spPr>
      </p:pic>
      <p:pic>
        <p:nvPicPr>
          <p:cNvPr id="29" name="Picture 28">
            <a:extLst>
              <a:ext uri="{FF2B5EF4-FFF2-40B4-BE49-F238E27FC236}">
                <a16:creationId xmlns:a16="http://schemas.microsoft.com/office/drawing/2014/main" id="{80FD9ECE-549F-1C9B-C4E0-0C315171127C}"/>
              </a:ext>
            </a:extLst>
          </p:cNvPr>
          <p:cNvPicPr>
            <a:picLocks noChangeAspect="1"/>
          </p:cNvPicPr>
          <p:nvPr/>
        </p:nvPicPr>
        <p:blipFill>
          <a:blip r:embed="rId6"/>
          <a:stretch>
            <a:fillRect/>
          </a:stretch>
        </p:blipFill>
        <p:spPr>
          <a:xfrm>
            <a:off x="5011902" y="2771601"/>
            <a:ext cx="2982979" cy="14803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nchor="t">
            <a:spAutoFit/>
          </a:bodyPr>
          <a:lstStyle/>
          <a:p>
            <a:pPr algn="l">
              <a:lnSpc>
                <a:spcPct val="100000"/>
              </a:lnSpc>
            </a:pPr>
            <a:r>
              <a:rPr sz="1200" b="1">
                <a:solidFill>
                  <a:srgbClr val="1C7293"/>
                </a:solidFill>
                <a:latin typeface="Calibri"/>
              </a:rPr>
              <a:t>LDA · 4-CLASS · 7-CHANNEL DEVICE</a:t>
            </a:r>
          </a:p>
        </p:txBody>
      </p:sp>
      <p:sp>
        <p:nvSpPr>
          <p:cNvPr id="3" name="TextBox 2"/>
          <p:cNvSpPr txBox="1"/>
          <p:nvPr/>
        </p:nvSpPr>
        <p:spPr>
          <a:xfrm>
            <a:off x="548640" y="658368"/>
            <a:ext cx="11064240" cy="566928"/>
          </a:xfrm>
          <a:prstGeom prst="rect">
            <a:avLst/>
          </a:prstGeom>
          <a:noFill/>
        </p:spPr>
        <p:txBody>
          <a:bodyPr wrap="square" lIns="0" tIns="0" rIns="0" bIns="0" anchor="t">
            <a:spAutoFit/>
          </a:bodyPr>
          <a:lstStyle/>
          <a:p>
            <a:pPr algn="l">
              <a:lnSpc>
                <a:spcPct val="100000"/>
              </a:lnSpc>
            </a:pPr>
            <a:r>
              <a:rPr sz="3000" b="1">
                <a:solidFill>
                  <a:srgbClr val="21295C"/>
                </a:solidFill>
                <a:latin typeface="Cambria"/>
              </a:rPr>
              <a:t>Does a deployable montage hold up?</a:t>
            </a:r>
          </a:p>
        </p:txBody>
      </p:sp>
      <p:sp>
        <p:nvSpPr>
          <p:cNvPr id="4" name="Rounded Rectangle 3"/>
          <p:cNvSpPr/>
          <p:nvPr/>
        </p:nvSpPr>
        <p:spPr>
          <a:xfrm>
            <a:off x="548640" y="1463040"/>
            <a:ext cx="4023360" cy="2788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27632"/>
            <a:ext cx="3566160" cy="320040"/>
          </a:xfrm>
          <a:prstGeom prst="rect">
            <a:avLst/>
          </a:prstGeom>
          <a:noFill/>
        </p:spPr>
        <p:txBody>
          <a:bodyPr wrap="square" lIns="0" tIns="0" rIns="0" bIns="0" anchor="t">
            <a:spAutoFit/>
          </a:bodyPr>
          <a:lstStyle/>
          <a:p>
            <a:pPr algn="l">
              <a:lnSpc>
                <a:spcPct val="100000"/>
              </a:lnSpc>
            </a:pPr>
            <a:r>
              <a:rPr sz="1500" b="1">
                <a:solidFill>
                  <a:srgbClr val="21295C"/>
                </a:solidFill>
                <a:latin typeface="Cambria"/>
              </a:rPr>
              <a:t>The 7-channel montage</a:t>
            </a:r>
          </a:p>
        </p:txBody>
      </p:sp>
      <p:sp>
        <p:nvSpPr>
          <p:cNvPr id="6" name="TextBox 5"/>
          <p:cNvSpPr txBox="1"/>
          <p:nvPr/>
        </p:nvSpPr>
        <p:spPr>
          <a:xfrm>
            <a:off x="777240" y="1993392"/>
            <a:ext cx="3566160" cy="457200"/>
          </a:xfrm>
          <a:prstGeom prst="rect">
            <a:avLst/>
          </a:prstGeom>
          <a:noFill/>
        </p:spPr>
        <p:txBody>
          <a:bodyPr wrap="square" lIns="0" tIns="0" rIns="0" bIns="0" anchor="t">
            <a:spAutoFit/>
          </a:bodyPr>
          <a:lstStyle/>
          <a:p>
            <a:pPr algn="l">
              <a:lnSpc>
                <a:spcPct val="105000"/>
              </a:lnSpc>
            </a:pPr>
            <a:r>
              <a:rPr sz="1000" b="0">
                <a:solidFill>
                  <a:srgbClr val="64748B"/>
                </a:solidFill>
                <a:latin typeface="Calibri"/>
              </a:rPr>
              <a:t>Chosen from fold-stable feature importance: the fronto-central cluster where the somatosensory response concentrates.</a:t>
            </a:r>
          </a:p>
        </p:txBody>
      </p:sp>
      <p:sp>
        <p:nvSpPr>
          <p:cNvPr id="7" name="Rounded Rectangle 6"/>
          <p:cNvSpPr/>
          <p:nvPr/>
        </p:nvSpPr>
        <p:spPr>
          <a:xfrm>
            <a:off x="777240" y="2514600"/>
            <a:ext cx="585215"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FCz</a:t>
            </a:r>
          </a:p>
        </p:txBody>
      </p:sp>
      <p:sp>
        <p:nvSpPr>
          <p:cNvPr id="8" name="Rounded Rectangle 7"/>
          <p:cNvSpPr/>
          <p:nvPr/>
        </p:nvSpPr>
        <p:spPr>
          <a:xfrm>
            <a:off x="1545336" y="2514600"/>
            <a:ext cx="585215" cy="384048"/>
          </a:xfrm>
          <a:prstGeom prst="round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Fz</a:t>
            </a:r>
          </a:p>
        </p:txBody>
      </p:sp>
      <p:sp>
        <p:nvSpPr>
          <p:cNvPr id="9" name="Rounded Rectangle 8"/>
          <p:cNvSpPr/>
          <p:nvPr/>
        </p:nvSpPr>
        <p:spPr>
          <a:xfrm>
            <a:off x="2313432" y="2514600"/>
            <a:ext cx="585215"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FC2</a:t>
            </a:r>
          </a:p>
        </p:txBody>
      </p:sp>
      <p:sp>
        <p:nvSpPr>
          <p:cNvPr id="10" name="Rounded Rectangle 9"/>
          <p:cNvSpPr/>
          <p:nvPr/>
        </p:nvSpPr>
        <p:spPr>
          <a:xfrm>
            <a:off x="3081528" y="2514600"/>
            <a:ext cx="585215" cy="384048"/>
          </a:xfrm>
          <a:prstGeom prst="round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FC4</a:t>
            </a:r>
          </a:p>
        </p:txBody>
      </p:sp>
      <p:sp>
        <p:nvSpPr>
          <p:cNvPr id="11" name="Rounded Rectangle 10"/>
          <p:cNvSpPr/>
          <p:nvPr/>
        </p:nvSpPr>
        <p:spPr>
          <a:xfrm>
            <a:off x="3849624" y="2514600"/>
            <a:ext cx="585215"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dirty="0" err="1">
                <a:solidFill>
                  <a:srgbClr val="FFFFFF"/>
                </a:solidFill>
                <a:latin typeface="Calibri"/>
              </a:rPr>
              <a:t>Cz</a:t>
            </a:r>
            <a:endParaRPr sz="1100" b="1" dirty="0">
              <a:solidFill>
                <a:srgbClr val="FFFFFF"/>
              </a:solidFill>
              <a:latin typeface="Calibri"/>
            </a:endParaRPr>
          </a:p>
        </p:txBody>
      </p:sp>
      <p:sp>
        <p:nvSpPr>
          <p:cNvPr id="12" name="Rounded Rectangle 11"/>
          <p:cNvSpPr/>
          <p:nvPr/>
        </p:nvSpPr>
        <p:spPr>
          <a:xfrm>
            <a:off x="777240" y="2990088"/>
            <a:ext cx="585215" cy="384048"/>
          </a:xfrm>
          <a:prstGeom prst="round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C2</a:t>
            </a:r>
          </a:p>
        </p:txBody>
      </p:sp>
      <p:sp>
        <p:nvSpPr>
          <p:cNvPr id="13" name="Rounded Rectangle 12"/>
          <p:cNvSpPr/>
          <p:nvPr/>
        </p:nvSpPr>
        <p:spPr>
          <a:xfrm>
            <a:off x="1545336" y="2990088"/>
            <a:ext cx="585215"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C4</a:t>
            </a:r>
          </a:p>
        </p:txBody>
      </p:sp>
      <p:sp>
        <p:nvSpPr>
          <p:cNvPr id="15" name="Rounded Rectangle 14"/>
          <p:cNvSpPr/>
          <p:nvPr/>
        </p:nvSpPr>
        <p:spPr>
          <a:xfrm>
            <a:off x="4800600" y="1463040"/>
            <a:ext cx="6812280" cy="2788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0" y="1627632"/>
            <a:ext cx="6400800" cy="320040"/>
          </a:xfrm>
          <a:prstGeom prst="rect">
            <a:avLst/>
          </a:prstGeom>
          <a:noFill/>
        </p:spPr>
        <p:txBody>
          <a:bodyPr wrap="square" lIns="0" tIns="0" rIns="0" bIns="0" anchor="t">
            <a:spAutoFit/>
          </a:bodyPr>
          <a:lstStyle/>
          <a:p>
            <a:pPr algn="l">
              <a:lnSpc>
                <a:spcPct val="100000"/>
              </a:lnSpc>
            </a:pPr>
            <a:r>
              <a:rPr sz="1500" b="1">
                <a:solidFill>
                  <a:srgbClr val="21295C"/>
                </a:solidFill>
                <a:latin typeface="Cambria"/>
              </a:rPr>
              <a:t>60 channels vs 7 channels (LOSO)</a:t>
            </a:r>
          </a:p>
        </p:txBody>
      </p:sp>
      <p:sp>
        <p:nvSpPr>
          <p:cNvPr id="17" name="Rectangle 16"/>
          <p:cNvSpPr/>
          <p:nvPr/>
        </p:nvSpPr>
        <p:spPr>
          <a:xfrm>
            <a:off x="5134529" y="2584664"/>
            <a:ext cx="1051560" cy="93515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51649" y="2292056"/>
            <a:ext cx="1417319" cy="274320"/>
          </a:xfrm>
          <a:prstGeom prst="rect">
            <a:avLst/>
          </a:prstGeom>
          <a:noFill/>
        </p:spPr>
        <p:txBody>
          <a:bodyPr wrap="square" lIns="0" tIns="0" rIns="0" bIns="0" anchor="t">
            <a:spAutoFit/>
          </a:bodyPr>
          <a:lstStyle/>
          <a:p>
            <a:pPr algn="ctr">
              <a:lnSpc>
                <a:spcPct val="100000"/>
              </a:lnSpc>
            </a:pPr>
            <a:r>
              <a:rPr sz="1400" b="1">
                <a:solidFill>
                  <a:srgbClr val="1E293B"/>
                </a:solidFill>
                <a:latin typeface="Cambria"/>
              </a:rPr>
              <a:t>48.7%</a:t>
            </a:r>
          </a:p>
        </p:txBody>
      </p:sp>
      <p:sp>
        <p:nvSpPr>
          <p:cNvPr id="19" name="TextBox 18"/>
          <p:cNvSpPr txBox="1"/>
          <p:nvPr/>
        </p:nvSpPr>
        <p:spPr>
          <a:xfrm>
            <a:off x="4951649" y="3565541"/>
            <a:ext cx="1417319" cy="274320"/>
          </a:xfrm>
          <a:prstGeom prst="rect">
            <a:avLst/>
          </a:prstGeom>
          <a:noFill/>
        </p:spPr>
        <p:txBody>
          <a:bodyPr wrap="square" lIns="0" tIns="0" rIns="0" bIns="0" anchor="t">
            <a:spAutoFit/>
          </a:bodyPr>
          <a:lstStyle/>
          <a:p>
            <a:pPr algn="ctr">
              <a:lnSpc>
                <a:spcPct val="100000"/>
              </a:lnSpc>
            </a:pPr>
            <a:r>
              <a:rPr sz="1000" b="1">
                <a:solidFill>
                  <a:srgbClr val="64748B"/>
                </a:solidFill>
                <a:latin typeface="Calibri"/>
              </a:rPr>
              <a:t>full 60ch</a:t>
            </a:r>
          </a:p>
        </p:txBody>
      </p:sp>
      <p:sp>
        <p:nvSpPr>
          <p:cNvPr id="20" name="Rectangle 19"/>
          <p:cNvSpPr/>
          <p:nvPr/>
        </p:nvSpPr>
        <p:spPr>
          <a:xfrm>
            <a:off x="7009049" y="2611547"/>
            <a:ext cx="1051560" cy="908273"/>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26169" y="2318939"/>
            <a:ext cx="1417319" cy="274320"/>
          </a:xfrm>
          <a:prstGeom prst="rect">
            <a:avLst/>
          </a:prstGeom>
          <a:noFill/>
        </p:spPr>
        <p:txBody>
          <a:bodyPr wrap="square" lIns="0" tIns="0" rIns="0" bIns="0" anchor="t">
            <a:spAutoFit/>
          </a:bodyPr>
          <a:lstStyle/>
          <a:p>
            <a:pPr algn="ctr">
              <a:lnSpc>
                <a:spcPct val="100000"/>
              </a:lnSpc>
            </a:pPr>
            <a:r>
              <a:rPr sz="1400" b="1">
                <a:solidFill>
                  <a:srgbClr val="1E293B"/>
                </a:solidFill>
                <a:latin typeface="Cambria"/>
              </a:rPr>
              <a:t>47.3%</a:t>
            </a:r>
          </a:p>
        </p:txBody>
      </p:sp>
      <p:sp>
        <p:nvSpPr>
          <p:cNvPr id="22" name="TextBox 21"/>
          <p:cNvSpPr txBox="1"/>
          <p:nvPr/>
        </p:nvSpPr>
        <p:spPr>
          <a:xfrm>
            <a:off x="6826169" y="3565541"/>
            <a:ext cx="1417319" cy="274320"/>
          </a:xfrm>
          <a:prstGeom prst="rect">
            <a:avLst/>
          </a:prstGeom>
          <a:noFill/>
        </p:spPr>
        <p:txBody>
          <a:bodyPr wrap="square" lIns="0" tIns="0" rIns="0" bIns="0" anchor="t">
            <a:spAutoFit/>
          </a:bodyPr>
          <a:lstStyle/>
          <a:p>
            <a:pPr algn="ctr">
              <a:lnSpc>
                <a:spcPct val="100000"/>
              </a:lnSpc>
            </a:pPr>
            <a:r>
              <a:rPr sz="1000" b="1">
                <a:solidFill>
                  <a:srgbClr val="64748B"/>
                </a:solidFill>
                <a:latin typeface="Calibri"/>
              </a:rPr>
              <a:t>7ch device</a:t>
            </a:r>
          </a:p>
        </p:txBody>
      </p:sp>
      <p:sp>
        <p:nvSpPr>
          <p:cNvPr id="23" name="TextBox 22"/>
          <p:cNvSpPr txBox="1"/>
          <p:nvPr/>
        </p:nvSpPr>
        <p:spPr>
          <a:xfrm>
            <a:off x="8432883" y="2584664"/>
            <a:ext cx="2133600" cy="722827"/>
          </a:xfrm>
          <a:prstGeom prst="rect">
            <a:avLst/>
          </a:prstGeom>
          <a:noFill/>
        </p:spPr>
        <p:txBody>
          <a:bodyPr wrap="square" lIns="0" tIns="0" rIns="0" bIns="0" anchor="t">
            <a:spAutoFit/>
          </a:bodyPr>
          <a:lstStyle/>
          <a:p>
            <a:pPr algn="l">
              <a:lnSpc>
                <a:spcPct val="108000"/>
              </a:lnSpc>
            </a:pPr>
            <a:r>
              <a:rPr sz="1100" b="1" dirty="0">
                <a:solidFill>
                  <a:srgbClr val="1E293B"/>
                </a:solidFill>
                <a:latin typeface="Calibri"/>
              </a:rPr>
              <a:t>Only 1.4 points lost </a:t>
            </a:r>
            <a:r>
              <a:rPr sz="1100" b="0" dirty="0">
                <a:solidFill>
                  <a:srgbClr val="64748B"/>
                </a:solidFill>
                <a:latin typeface="Calibri"/>
              </a:rPr>
              <a:t>dropping from 60 channels to 7. The intensity signal is concentrated, not spread, so the montage is cheap.</a:t>
            </a:r>
          </a:p>
        </p:txBody>
      </p:sp>
      <p:sp>
        <p:nvSpPr>
          <p:cNvPr id="24" name="TextBox 23"/>
          <p:cNvSpPr txBox="1"/>
          <p:nvPr/>
        </p:nvSpPr>
        <p:spPr>
          <a:xfrm>
            <a:off x="8432883" y="3429145"/>
            <a:ext cx="3291840" cy="457200"/>
          </a:xfrm>
          <a:prstGeom prst="rect">
            <a:avLst/>
          </a:prstGeom>
          <a:noFill/>
        </p:spPr>
        <p:txBody>
          <a:bodyPr wrap="square" lIns="0" tIns="0" rIns="0" bIns="0" anchor="t">
            <a:spAutoFit/>
          </a:bodyPr>
          <a:lstStyle/>
          <a:p>
            <a:pPr algn="l">
              <a:lnSpc>
                <a:spcPct val="100000"/>
              </a:lnSpc>
            </a:pPr>
            <a:r>
              <a:rPr sz="1000" b="1" dirty="0">
                <a:solidFill>
                  <a:srgbClr val="1C7293"/>
                </a:solidFill>
                <a:latin typeface="Calibri"/>
              </a:rPr>
              <a:t>7ch is 1.89x chance (25%).</a:t>
            </a:r>
          </a:p>
        </p:txBody>
      </p:sp>
      <p:sp>
        <p:nvSpPr>
          <p:cNvPr id="25" name="Rounded Rectangle 24"/>
          <p:cNvSpPr/>
          <p:nvPr/>
        </p:nvSpPr>
        <p:spPr>
          <a:xfrm>
            <a:off x="548640" y="4489704"/>
            <a:ext cx="6812280" cy="138015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4654296"/>
            <a:ext cx="2194560" cy="274320"/>
          </a:xfrm>
          <a:prstGeom prst="rect">
            <a:avLst/>
          </a:prstGeom>
          <a:noFill/>
        </p:spPr>
        <p:txBody>
          <a:bodyPr wrap="square" lIns="0" tIns="0" rIns="0" bIns="0" anchor="t">
            <a:spAutoFit/>
          </a:bodyPr>
          <a:lstStyle/>
          <a:p>
            <a:pPr algn="l">
              <a:lnSpc>
                <a:spcPct val="100000"/>
              </a:lnSpc>
            </a:pPr>
            <a:r>
              <a:rPr sz="1100" b="1">
                <a:solidFill>
                  <a:srgbClr val="64748B"/>
                </a:solidFill>
                <a:latin typeface="Calibri"/>
              </a:rPr>
              <a:t>LOSO (cross-subject)</a:t>
            </a:r>
          </a:p>
        </p:txBody>
      </p:sp>
      <p:sp>
        <p:nvSpPr>
          <p:cNvPr id="27" name="TextBox 26"/>
          <p:cNvSpPr txBox="1"/>
          <p:nvPr/>
        </p:nvSpPr>
        <p:spPr>
          <a:xfrm>
            <a:off x="777240" y="4901184"/>
            <a:ext cx="2194560" cy="457200"/>
          </a:xfrm>
          <a:prstGeom prst="rect">
            <a:avLst/>
          </a:prstGeom>
          <a:noFill/>
        </p:spPr>
        <p:txBody>
          <a:bodyPr wrap="square" lIns="0" tIns="0" rIns="0" bIns="0" anchor="t">
            <a:spAutoFit/>
          </a:bodyPr>
          <a:lstStyle/>
          <a:p>
            <a:pPr algn="l">
              <a:lnSpc>
                <a:spcPct val="100000"/>
              </a:lnSpc>
            </a:pPr>
            <a:r>
              <a:rPr sz="2100" b="1">
                <a:solidFill>
                  <a:srgbClr val="1C7293"/>
                </a:solidFill>
                <a:latin typeface="Cambria"/>
              </a:rPr>
              <a:t>48.7%  →  47.3%</a:t>
            </a:r>
          </a:p>
        </p:txBody>
      </p:sp>
      <p:sp>
        <p:nvSpPr>
          <p:cNvPr id="28" name="TextBox 27"/>
          <p:cNvSpPr txBox="1"/>
          <p:nvPr/>
        </p:nvSpPr>
        <p:spPr>
          <a:xfrm>
            <a:off x="777240" y="5358384"/>
            <a:ext cx="2377440" cy="274320"/>
          </a:xfrm>
          <a:prstGeom prst="rect">
            <a:avLst/>
          </a:prstGeom>
          <a:noFill/>
        </p:spPr>
        <p:txBody>
          <a:bodyPr wrap="square" lIns="0" tIns="0" rIns="0" bIns="0" anchor="t">
            <a:spAutoFit/>
          </a:bodyPr>
          <a:lstStyle/>
          <a:p>
            <a:pPr algn="l">
              <a:lnSpc>
                <a:spcPct val="100000"/>
              </a:lnSpc>
            </a:pPr>
            <a:r>
              <a:rPr sz="950" b="0">
                <a:solidFill>
                  <a:srgbClr val="64748B"/>
                </a:solidFill>
                <a:latin typeface="Calibri"/>
              </a:rPr>
              <a:t>60ch → 7ch</a:t>
            </a:r>
          </a:p>
        </p:txBody>
      </p:sp>
      <p:sp>
        <p:nvSpPr>
          <p:cNvPr id="29" name="TextBox 28"/>
          <p:cNvSpPr txBox="1"/>
          <p:nvPr/>
        </p:nvSpPr>
        <p:spPr>
          <a:xfrm>
            <a:off x="3108960" y="4654296"/>
            <a:ext cx="2194560" cy="274320"/>
          </a:xfrm>
          <a:prstGeom prst="rect">
            <a:avLst/>
          </a:prstGeom>
          <a:noFill/>
        </p:spPr>
        <p:txBody>
          <a:bodyPr wrap="square" lIns="0" tIns="0" rIns="0" bIns="0" anchor="t">
            <a:spAutoFit/>
          </a:bodyPr>
          <a:lstStyle/>
          <a:p>
            <a:pPr algn="l">
              <a:lnSpc>
                <a:spcPct val="100000"/>
              </a:lnSpc>
            </a:pPr>
            <a:r>
              <a:rPr sz="1100" b="1">
                <a:solidFill>
                  <a:srgbClr val="64748B"/>
                </a:solidFill>
                <a:latin typeface="Calibri"/>
              </a:rPr>
              <a:t>Within-subject</a:t>
            </a:r>
          </a:p>
        </p:txBody>
      </p:sp>
      <p:sp>
        <p:nvSpPr>
          <p:cNvPr id="30" name="TextBox 29"/>
          <p:cNvSpPr txBox="1"/>
          <p:nvPr/>
        </p:nvSpPr>
        <p:spPr>
          <a:xfrm>
            <a:off x="3108960" y="4901184"/>
            <a:ext cx="2194560" cy="457200"/>
          </a:xfrm>
          <a:prstGeom prst="rect">
            <a:avLst/>
          </a:prstGeom>
          <a:noFill/>
        </p:spPr>
        <p:txBody>
          <a:bodyPr wrap="square" lIns="0" tIns="0" rIns="0" bIns="0" anchor="t">
            <a:spAutoFit/>
          </a:bodyPr>
          <a:lstStyle/>
          <a:p>
            <a:pPr algn="l">
              <a:lnSpc>
                <a:spcPct val="100000"/>
              </a:lnSpc>
            </a:pPr>
            <a:r>
              <a:rPr sz="2100" b="1">
                <a:solidFill>
                  <a:srgbClr val="21295C"/>
                </a:solidFill>
                <a:latin typeface="Cambria"/>
              </a:rPr>
              <a:t>61.6%  →  57.2%</a:t>
            </a:r>
          </a:p>
        </p:txBody>
      </p:sp>
      <p:sp>
        <p:nvSpPr>
          <p:cNvPr id="31" name="TextBox 30"/>
          <p:cNvSpPr txBox="1"/>
          <p:nvPr/>
        </p:nvSpPr>
        <p:spPr>
          <a:xfrm>
            <a:off x="3108960" y="5358384"/>
            <a:ext cx="2377440" cy="274320"/>
          </a:xfrm>
          <a:prstGeom prst="rect">
            <a:avLst/>
          </a:prstGeom>
          <a:noFill/>
        </p:spPr>
        <p:txBody>
          <a:bodyPr wrap="square" lIns="0" tIns="0" rIns="0" bIns="0" anchor="t">
            <a:spAutoFit/>
          </a:bodyPr>
          <a:lstStyle/>
          <a:p>
            <a:pPr algn="l">
              <a:lnSpc>
                <a:spcPct val="100000"/>
              </a:lnSpc>
            </a:pPr>
            <a:r>
              <a:rPr sz="950" b="0">
                <a:solidFill>
                  <a:srgbClr val="64748B"/>
                </a:solidFill>
                <a:latin typeface="Calibri"/>
              </a:rPr>
              <a:t>60ch → 7ch</a:t>
            </a:r>
          </a:p>
        </p:txBody>
      </p:sp>
      <p:sp>
        <p:nvSpPr>
          <p:cNvPr id="32" name="TextBox 31"/>
          <p:cNvSpPr txBox="1"/>
          <p:nvPr/>
        </p:nvSpPr>
        <p:spPr>
          <a:xfrm>
            <a:off x="5394960" y="4920344"/>
            <a:ext cx="1783080" cy="607795"/>
          </a:xfrm>
          <a:prstGeom prst="rect">
            <a:avLst/>
          </a:prstGeom>
          <a:noFill/>
        </p:spPr>
        <p:txBody>
          <a:bodyPr wrap="square" lIns="0" tIns="0" rIns="0" bIns="0" anchor="t">
            <a:spAutoFit/>
          </a:bodyPr>
          <a:lstStyle/>
          <a:p>
            <a:pPr algn="l">
              <a:lnSpc>
                <a:spcPct val="105000"/>
              </a:lnSpc>
            </a:pPr>
            <a:r>
              <a:rPr sz="950" b="1" dirty="0">
                <a:solidFill>
                  <a:srgbClr val="1E293B"/>
                </a:solidFill>
                <a:latin typeface="Calibri"/>
              </a:rPr>
              <a:t>Same story as 3-class. </a:t>
            </a:r>
            <a:r>
              <a:rPr sz="950" b="0" dirty="0">
                <a:solidFill>
                  <a:srgbClr val="64748B"/>
                </a:solidFill>
                <a:latin typeface="Calibri"/>
              </a:rPr>
              <a:t>Dropping to 7 channels costs ~1.4 pts cross-subject. </a:t>
            </a:r>
            <a:r>
              <a:rPr sz="950" b="0" dirty="0" err="1">
                <a:solidFill>
                  <a:srgbClr val="64748B"/>
                </a:solidFill>
                <a:latin typeface="Calibri"/>
              </a:rPr>
              <a:t>min↔medium</a:t>
            </a:r>
            <a:r>
              <a:rPr sz="950" b="0" dirty="0">
                <a:solidFill>
                  <a:srgbClr val="64748B"/>
                </a:solidFill>
                <a:latin typeface="Calibri"/>
              </a:rPr>
              <a:t> overlap stays the ceiling.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WHAT DIDN'T WORK</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Approaches tested and rejected</a:t>
            </a:r>
            <a:endParaRPr lang="en-US" sz="3000" dirty="0"/>
          </a:p>
        </p:txBody>
      </p:sp>
      <p:sp>
        <p:nvSpPr>
          <p:cNvPr id="4" name="Shape 2"/>
          <p:cNvSpPr/>
          <p:nvPr/>
        </p:nvSpPr>
        <p:spPr>
          <a:xfrm>
            <a:off x="548640" y="1463040"/>
            <a:ext cx="5943600" cy="3703320"/>
          </a:xfrm>
          <a:prstGeom prst="roundRect">
            <a:avLst>
              <a:gd name="adj" fmla="val 1975"/>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5" name="Image 0" descr="assets/compare.png"/>
          <p:cNvPicPr>
            <a:picLocks noChangeAspect="1"/>
          </p:cNvPicPr>
          <p:nvPr/>
        </p:nvPicPr>
        <p:blipFill>
          <a:blip r:embed="rId2"/>
          <a:stretch>
            <a:fillRect/>
          </a:stretch>
        </p:blipFill>
        <p:spPr>
          <a:xfrm>
            <a:off x="777240" y="1783080"/>
            <a:ext cx="4837681" cy="3017520"/>
          </a:xfrm>
          <a:prstGeom prst="rect">
            <a:avLst/>
          </a:prstGeom>
        </p:spPr>
      </p:pic>
      <p:sp>
        <p:nvSpPr>
          <p:cNvPr id="6" name="Shape 3"/>
          <p:cNvSpPr/>
          <p:nvPr/>
        </p:nvSpPr>
        <p:spPr>
          <a:xfrm>
            <a:off x="6720840" y="150876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7" name="Shape 4"/>
          <p:cNvSpPr/>
          <p:nvPr/>
        </p:nvSpPr>
        <p:spPr>
          <a:xfrm>
            <a:off x="6949440" y="1755648"/>
            <a:ext cx="256032" cy="256032"/>
          </a:xfrm>
          <a:prstGeom prst="ellipse">
            <a:avLst/>
          </a:prstGeom>
          <a:solidFill>
            <a:srgbClr val="1C7293"/>
          </a:solidFill>
          <a:ln/>
        </p:spPr>
        <p:txBody>
          <a:bodyPr/>
          <a:lstStyle/>
          <a:p>
            <a:endParaRPr lang="en-US"/>
          </a:p>
        </p:txBody>
      </p:sp>
      <p:sp>
        <p:nvSpPr>
          <p:cNvPr id="8" name="Text 5"/>
          <p:cNvSpPr/>
          <p:nvPr/>
        </p:nvSpPr>
        <p:spPr>
          <a:xfrm>
            <a:off x="7360920" y="166420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Time-frequency (ERD/ERS)</a:t>
            </a:r>
            <a:endParaRPr lang="en-US" sz="1500" dirty="0"/>
          </a:p>
        </p:txBody>
      </p:sp>
      <p:sp>
        <p:nvSpPr>
          <p:cNvPr id="9" name="Text 6"/>
          <p:cNvSpPr/>
          <p:nvPr/>
        </p:nvSpPr>
        <p:spPr>
          <a:xfrm>
            <a:off x="7360920" y="192481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erp+bp+tf -&gt; LOSO 57.4% (vs 62.8%). The 1200 ERD/ERS features dilute the model; the time-frequency domain is less discriminative than time or frequency alone.</a:t>
            </a:r>
            <a:endParaRPr lang="en-US" sz="1050" dirty="0"/>
          </a:p>
        </p:txBody>
      </p:sp>
      <p:sp>
        <p:nvSpPr>
          <p:cNvPr id="10" name="Shape 7"/>
          <p:cNvSpPr/>
          <p:nvPr/>
        </p:nvSpPr>
        <p:spPr>
          <a:xfrm>
            <a:off x="6720840" y="278892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949440" y="3035808"/>
            <a:ext cx="256032" cy="256032"/>
          </a:xfrm>
          <a:prstGeom prst="ellipse">
            <a:avLst/>
          </a:prstGeom>
          <a:solidFill>
            <a:srgbClr val="065A82"/>
          </a:solidFill>
          <a:ln/>
        </p:spPr>
        <p:txBody>
          <a:bodyPr/>
          <a:lstStyle/>
          <a:p>
            <a:endParaRPr lang="en-US"/>
          </a:p>
        </p:txBody>
      </p:sp>
      <p:sp>
        <p:nvSpPr>
          <p:cNvPr id="12" name="Text 9"/>
          <p:cNvSpPr/>
          <p:nvPr/>
        </p:nvSpPr>
        <p:spPr>
          <a:xfrm>
            <a:off x="7360920" y="294436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Riemannian covariance</a:t>
            </a:r>
            <a:endParaRPr lang="en-US" sz="1500" dirty="0"/>
          </a:p>
        </p:txBody>
      </p:sp>
      <p:sp>
        <p:nvSpPr>
          <p:cNvPr id="13" name="Text 10"/>
          <p:cNvSpPr/>
          <p:nvPr/>
        </p:nvSpPr>
        <p:spPr>
          <a:xfrm>
            <a:off x="7360920" y="320497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riem alone LOSO 57.5%; concatenated with erp+bp 59.7% — both below the 62.8% baseline. As a single feature block it only dilutes.</a:t>
            </a:r>
            <a:endParaRPr lang="en-US" sz="1050" dirty="0"/>
          </a:p>
        </p:txBody>
      </p:sp>
      <p:sp>
        <p:nvSpPr>
          <p:cNvPr id="14" name="Shape 11"/>
          <p:cNvSpPr/>
          <p:nvPr/>
        </p:nvSpPr>
        <p:spPr>
          <a:xfrm>
            <a:off x="6720840" y="406908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5" name="Shape 12"/>
          <p:cNvSpPr/>
          <p:nvPr/>
        </p:nvSpPr>
        <p:spPr>
          <a:xfrm>
            <a:off x="6949440" y="4315968"/>
            <a:ext cx="256032" cy="256032"/>
          </a:xfrm>
          <a:prstGeom prst="ellipse">
            <a:avLst/>
          </a:prstGeom>
          <a:solidFill>
            <a:srgbClr val="B85042"/>
          </a:solidFill>
          <a:ln/>
        </p:spPr>
        <p:txBody>
          <a:bodyPr/>
          <a:lstStyle/>
          <a:p>
            <a:endParaRPr lang="en-US"/>
          </a:p>
        </p:txBody>
      </p:sp>
      <p:sp>
        <p:nvSpPr>
          <p:cNvPr id="16" name="Text 13"/>
          <p:cNvSpPr/>
          <p:nvPr/>
        </p:nvSpPr>
        <p:spPr>
          <a:xfrm>
            <a:off x="7360920" y="422452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Selection &amp; montage</a:t>
            </a:r>
            <a:endParaRPr lang="en-US" sz="1500" dirty="0"/>
          </a:p>
        </p:txBody>
      </p:sp>
      <p:sp>
        <p:nvSpPr>
          <p:cNvPr id="17" name="Text 14"/>
          <p:cNvSpPr/>
          <p:nvPr/>
        </p:nvSpPr>
        <p:spPr>
          <a:xfrm>
            <a:off x="7360920" y="448513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Nested-CV feature selection across erp+bp+tf never beat erp+bp (best 60.1% vs 59.9%). The XON frontal-parietal montage was far worse (46.9%).</a:t>
            </a:r>
            <a:endParaRPr lang="en-US" sz="1050" dirty="0"/>
          </a:p>
        </p:txBody>
      </p:sp>
      <p:sp>
        <p:nvSpPr>
          <p:cNvPr id="18" name="Shape 15"/>
          <p:cNvSpPr/>
          <p:nvPr/>
        </p:nvSpPr>
        <p:spPr>
          <a:xfrm>
            <a:off x="548640" y="5349240"/>
            <a:ext cx="11064240" cy="960120"/>
          </a:xfrm>
          <a:prstGeom prst="roundRect">
            <a:avLst>
              <a:gd name="adj" fmla="val 7619"/>
            </a:avLst>
          </a:prstGeom>
          <a:solidFill>
            <a:srgbClr val="21295C"/>
          </a:solidFill>
          <a:ln/>
          <a:effectLst>
            <a:outerShdw blurRad="88900" dist="38100" dir="5400000" algn="bl" rotWithShape="0">
              <a:srgbClr val="000000">
                <a:alpha val="13000"/>
              </a:srgbClr>
            </a:outerShdw>
          </a:effectLst>
        </p:spPr>
        <p:txBody>
          <a:bodyPr/>
          <a:lstStyle/>
          <a:p>
            <a:endParaRPr lang="en-US"/>
          </a:p>
        </p:txBody>
      </p:sp>
      <p:sp>
        <p:nvSpPr>
          <p:cNvPr id="19" name="Text 16"/>
          <p:cNvSpPr/>
          <p:nvPr/>
        </p:nvSpPr>
        <p:spPr>
          <a:xfrm>
            <a:off x="868680" y="5486400"/>
            <a:ext cx="10424160" cy="685800"/>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cs typeface="Calibri" pitchFamily="34" charset="-120"/>
              </a:rPr>
              <a:t>The recurring failure mode is dilution: with ~120-160 trials/subject, piling features into one vector hurts cross-subject accuracy. erp+bp is the ceiling of single-vector linear feature engineering.</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3" name="Text 1"/>
          <p:cNvSpPr/>
          <p:nvPr/>
        </p:nvSpPr>
        <p:spPr>
          <a:xfrm>
            <a:off x="731520" y="228600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Part 3: Stacking ensemble</a:t>
            </a:r>
            <a:endParaRPr lang="en-US" sz="4400" dirty="0"/>
          </a:p>
        </p:txBody>
      </p:sp>
      <p:sp>
        <p:nvSpPr>
          <p:cNvPr id="4" name="Text 2"/>
          <p:cNvSpPr/>
          <p:nvPr/>
        </p:nvSpPr>
        <p:spPr>
          <a:xfrm>
            <a:off x="777240" y="3337560"/>
            <a:ext cx="10058400" cy="548640"/>
          </a:xfrm>
          <a:prstGeom prst="rect">
            <a:avLst/>
          </a:prstGeom>
          <a:noFill/>
          <a:ln/>
        </p:spPr>
        <p:txBody>
          <a:bodyPr wrap="square" lIns="0" tIns="0" rIns="0" bIns="0" rtlCol="0" anchor="ctr"/>
          <a:lstStyle/>
          <a:p>
            <a:pPr marL="0" indent="0">
              <a:buNone/>
            </a:pPr>
            <a:r>
              <a:rPr lang="en-US" sz="1700" dirty="0">
                <a:solidFill>
                  <a:srgbClr val="CADCFC"/>
                </a:solidFill>
                <a:latin typeface="Calibri" pitchFamily="34" charset="0"/>
                <a:ea typeface="Calibri" pitchFamily="34" charset="-122"/>
                <a:cs typeface="Calibri" pitchFamily="34" charset="-120"/>
              </a:rPr>
              <a:t>Fusing per-family LDAs at the decision level — the best model</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STACKING · 3-CLASS · BEST MODEL</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Per-family LDAs fused by a meta-learner</a:t>
            </a:r>
            <a:endParaRPr lang="en-US" sz="3000" dirty="0"/>
          </a:p>
        </p:txBody>
      </p:sp>
      <p:sp>
        <p:nvSpPr>
          <p:cNvPr id="4" name="Shape 2"/>
          <p:cNvSpPr/>
          <p:nvPr/>
        </p:nvSpPr>
        <p:spPr>
          <a:xfrm>
            <a:off x="548640" y="1463040"/>
            <a:ext cx="5943600" cy="3776472"/>
          </a:xfrm>
          <a:prstGeom prst="roundRect">
            <a:avLst>
              <a:gd name="adj" fmla="val 1975"/>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5" name="Image 0" descr="assets/compare.png"/>
          <p:cNvPicPr>
            <a:picLocks noChangeAspect="1"/>
          </p:cNvPicPr>
          <p:nvPr/>
        </p:nvPicPr>
        <p:blipFill>
          <a:blip r:embed="rId2"/>
          <a:stretch>
            <a:fillRect/>
          </a:stretch>
        </p:blipFill>
        <p:spPr>
          <a:xfrm>
            <a:off x="1062990" y="1755648"/>
            <a:ext cx="3851910" cy="3221974"/>
          </a:xfrm>
          <a:prstGeom prst="rect">
            <a:avLst/>
          </a:prstGeom>
        </p:spPr>
      </p:pic>
      <p:sp>
        <p:nvSpPr>
          <p:cNvPr id="6" name="Shape 3"/>
          <p:cNvSpPr/>
          <p:nvPr/>
        </p:nvSpPr>
        <p:spPr>
          <a:xfrm>
            <a:off x="6720840" y="150876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7" name="Shape 4"/>
          <p:cNvSpPr/>
          <p:nvPr/>
        </p:nvSpPr>
        <p:spPr>
          <a:xfrm>
            <a:off x="6949440" y="1755648"/>
            <a:ext cx="256032" cy="256032"/>
          </a:xfrm>
          <a:prstGeom prst="ellipse">
            <a:avLst/>
          </a:prstGeom>
          <a:solidFill>
            <a:srgbClr val="1C7293"/>
          </a:solidFill>
          <a:ln/>
        </p:spPr>
        <p:txBody>
          <a:bodyPr/>
          <a:lstStyle/>
          <a:p>
            <a:endParaRPr lang="en-US"/>
          </a:p>
        </p:txBody>
      </p:sp>
      <p:sp>
        <p:nvSpPr>
          <p:cNvPr id="8" name="Text 5"/>
          <p:cNvSpPr/>
          <p:nvPr/>
        </p:nvSpPr>
        <p:spPr>
          <a:xfrm>
            <a:off x="7360920" y="166420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Architecture</a:t>
            </a:r>
            <a:endParaRPr lang="en-US" sz="1500" dirty="0"/>
          </a:p>
        </p:txBody>
      </p:sp>
      <p:sp>
        <p:nvSpPr>
          <p:cNvPr id="9" name="Text 6"/>
          <p:cNvSpPr/>
          <p:nvPr/>
        </p:nvSpPr>
        <p:spPr>
          <a:xfrm>
            <a:off x="7360920" y="192481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One shrinkage-LDA per family (ERP, band-power, ERD/ERS, Riemannian). A logistic meta-learner fuses their class probabilities based on correctness during learning.</a:t>
            </a:r>
            <a:endParaRPr lang="en-US" sz="1050" dirty="0"/>
          </a:p>
        </p:txBody>
      </p:sp>
      <p:sp>
        <p:nvSpPr>
          <p:cNvPr id="10" name="Shape 7"/>
          <p:cNvSpPr/>
          <p:nvPr/>
        </p:nvSpPr>
        <p:spPr>
          <a:xfrm>
            <a:off x="6720840" y="278892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949440" y="3035808"/>
            <a:ext cx="256032" cy="256032"/>
          </a:xfrm>
          <a:prstGeom prst="ellipse">
            <a:avLst/>
          </a:prstGeom>
          <a:solidFill>
            <a:srgbClr val="065A82"/>
          </a:solidFill>
          <a:ln/>
        </p:spPr>
        <p:txBody>
          <a:bodyPr/>
          <a:lstStyle/>
          <a:p>
            <a:endParaRPr lang="en-US"/>
          </a:p>
        </p:txBody>
      </p:sp>
      <p:sp>
        <p:nvSpPr>
          <p:cNvPr id="12" name="Text 9"/>
          <p:cNvSpPr/>
          <p:nvPr/>
        </p:nvSpPr>
        <p:spPr>
          <a:xfrm>
            <a:off x="7360920" y="294436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Results</a:t>
            </a:r>
            <a:endParaRPr lang="en-US" sz="1500" dirty="0"/>
          </a:p>
        </p:txBody>
      </p:sp>
      <p:sp>
        <p:nvSpPr>
          <p:cNvPr id="13" name="Text 10"/>
          <p:cNvSpPr/>
          <p:nvPr/>
        </p:nvSpPr>
        <p:spPr>
          <a:xfrm>
            <a:off x="7360920" y="3204972"/>
            <a:ext cx="4069080" cy="594360"/>
          </a:xfrm>
          <a:prstGeom prst="rect">
            <a:avLst/>
          </a:prstGeom>
          <a:noFill/>
          <a:ln/>
        </p:spPr>
        <p:txBody>
          <a:bodyPr wrap="square" lIns="0" tIns="0" rIns="0" bIns="0" rtlCol="0" anchor="ctr"/>
          <a:lstStyle/>
          <a:p>
            <a:pPr marL="0" indent="0">
              <a:lnSpc>
                <a:spcPct val="102000"/>
              </a:lnSpc>
              <a:buNone/>
            </a:pPr>
            <a:r>
              <a:rPr lang="en-US" sz="1050" b="1" dirty="0">
                <a:solidFill>
                  <a:srgbClr val="64748B"/>
                </a:solidFill>
                <a:latin typeface="Calibri" pitchFamily="34" charset="0"/>
                <a:ea typeface="Calibri" pitchFamily="34" charset="-122"/>
                <a:cs typeface="Calibri" pitchFamily="34" charset="-120"/>
              </a:rPr>
              <a:t>Within</a:t>
            </a:r>
            <a:r>
              <a:rPr lang="en-US" sz="1050" dirty="0">
                <a:solidFill>
                  <a:srgbClr val="64748B"/>
                </a:solidFill>
                <a:latin typeface="Calibri" pitchFamily="34" charset="0"/>
                <a:ea typeface="Calibri" pitchFamily="34" charset="-122"/>
                <a:cs typeface="Calibri" pitchFamily="34" charset="-120"/>
              </a:rPr>
              <a:t> </a:t>
            </a:r>
            <a:r>
              <a:rPr lang="en-US" sz="1050" b="1" dirty="0">
                <a:solidFill>
                  <a:srgbClr val="64748B"/>
                </a:solidFill>
                <a:latin typeface="Calibri" pitchFamily="34" charset="0"/>
                <a:ea typeface="Calibri" pitchFamily="34" charset="-122"/>
                <a:cs typeface="Calibri" pitchFamily="34" charset="-120"/>
              </a:rPr>
              <a:t>73.0% </a:t>
            </a:r>
            <a:r>
              <a:rPr lang="en-US" sz="1050" dirty="0">
                <a:solidFill>
                  <a:srgbClr val="64748B"/>
                </a:solidFill>
                <a:latin typeface="Calibri" pitchFamily="34" charset="0"/>
                <a:ea typeface="Calibri" pitchFamily="34" charset="-122"/>
                <a:cs typeface="Calibri" pitchFamily="34" charset="-120"/>
              </a:rPr>
              <a:t>/ 70.2% </a:t>
            </a:r>
            <a:r>
              <a:rPr lang="en-US" sz="1050" dirty="0" err="1">
                <a:solidFill>
                  <a:srgbClr val="64748B"/>
                </a:solidFill>
                <a:latin typeface="Calibri" pitchFamily="34" charset="0"/>
                <a:ea typeface="Calibri" pitchFamily="34" charset="-122"/>
                <a:cs typeface="Calibri" pitchFamily="34" charset="-120"/>
              </a:rPr>
              <a:t>bal</a:t>
            </a:r>
            <a:r>
              <a:rPr lang="en-US" sz="1050" dirty="0">
                <a:solidFill>
                  <a:srgbClr val="64748B"/>
                </a:solidFill>
                <a:latin typeface="Calibri" pitchFamily="34" charset="0"/>
                <a:ea typeface="Calibri" pitchFamily="34" charset="-122"/>
                <a:cs typeface="Calibri" pitchFamily="34" charset="-120"/>
              </a:rPr>
              <a:t>, </a:t>
            </a:r>
            <a:r>
              <a:rPr lang="en-US" sz="1050" b="1" dirty="0">
                <a:solidFill>
                  <a:srgbClr val="64748B"/>
                </a:solidFill>
                <a:latin typeface="Calibri" pitchFamily="34" charset="0"/>
                <a:ea typeface="Calibri" pitchFamily="34" charset="-122"/>
                <a:cs typeface="Calibri" pitchFamily="34" charset="-120"/>
              </a:rPr>
              <a:t>LOSO 66.7% </a:t>
            </a:r>
            <a:r>
              <a:rPr lang="en-US" sz="1050" dirty="0">
                <a:solidFill>
                  <a:srgbClr val="64748B"/>
                </a:solidFill>
                <a:latin typeface="Calibri" pitchFamily="34" charset="0"/>
                <a:ea typeface="Calibri" pitchFamily="34" charset="-122"/>
                <a:cs typeface="Calibri" pitchFamily="34" charset="-120"/>
              </a:rPr>
              <a:t>/ 63.0% bal. This is +3.9 / +3.1 over </a:t>
            </a:r>
            <a:r>
              <a:rPr lang="en-US" sz="1050" dirty="0" err="1">
                <a:solidFill>
                  <a:srgbClr val="64748B"/>
                </a:solidFill>
                <a:latin typeface="Calibri" pitchFamily="34" charset="0"/>
                <a:ea typeface="Calibri" pitchFamily="34" charset="-122"/>
                <a:cs typeface="Calibri" pitchFamily="34" charset="-120"/>
              </a:rPr>
              <a:t>erp+bp</a:t>
            </a:r>
            <a:r>
              <a:rPr lang="en-US" sz="1050" dirty="0">
                <a:solidFill>
                  <a:srgbClr val="64748B"/>
                </a:solidFill>
                <a:latin typeface="Calibri" pitchFamily="34" charset="0"/>
                <a:ea typeface="Calibri" pitchFamily="34" charset="-122"/>
                <a:cs typeface="Calibri" pitchFamily="34" charset="-120"/>
              </a:rPr>
              <a:t>, which is the only method that beats it.</a:t>
            </a:r>
            <a:endParaRPr lang="en-US" sz="1050" dirty="0"/>
          </a:p>
        </p:txBody>
      </p:sp>
      <p:sp>
        <p:nvSpPr>
          <p:cNvPr id="14" name="Shape 11"/>
          <p:cNvSpPr/>
          <p:nvPr/>
        </p:nvSpPr>
        <p:spPr>
          <a:xfrm>
            <a:off x="6720840" y="406908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5" name="Shape 12"/>
          <p:cNvSpPr/>
          <p:nvPr/>
        </p:nvSpPr>
        <p:spPr>
          <a:xfrm>
            <a:off x="6949440" y="4315968"/>
            <a:ext cx="256032" cy="256032"/>
          </a:xfrm>
          <a:prstGeom prst="ellipse">
            <a:avLst/>
          </a:prstGeom>
          <a:solidFill>
            <a:srgbClr val="B85042"/>
          </a:solidFill>
          <a:ln/>
        </p:spPr>
        <p:txBody>
          <a:bodyPr/>
          <a:lstStyle/>
          <a:p>
            <a:endParaRPr lang="en-US"/>
          </a:p>
        </p:txBody>
      </p:sp>
      <p:sp>
        <p:nvSpPr>
          <p:cNvPr id="16" name="Text 13"/>
          <p:cNvSpPr/>
          <p:nvPr/>
        </p:nvSpPr>
        <p:spPr>
          <a:xfrm>
            <a:off x="7360920" y="422452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Why it works</a:t>
            </a:r>
            <a:endParaRPr lang="en-US" sz="1500" dirty="0"/>
          </a:p>
        </p:txBody>
      </p:sp>
      <p:sp>
        <p:nvSpPr>
          <p:cNvPr id="17" name="Text 14"/>
          <p:cNvSpPr/>
          <p:nvPr/>
        </p:nvSpPr>
        <p:spPr>
          <a:xfrm>
            <a:off x="7360920" y="448513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The weaker but complementary views help when they’re fused after decision, not concatenated pre inference, as their errors decorrelate from ERP/band-power. Meta-weights (LOSO): erp .37 / bp .32 / riem .20 / tf .11.</a:t>
            </a:r>
            <a:endParaRPr lang="en-US" sz="1050" dirty="0"/>
          </a:p>
        </p:txBody>
      </p:sp>
      <p:sp>
        <p:nvSpPr>
          <p:cNvPr id="18" name="Shape 15"/>
          <p:cNvSpPr/>
          <p:nvPr/>
        </p:nvSpPr>
        <p:spPr>
          <a:xfrm>
            <a:off x="563880" y="5449824"/>
            <a:ext cx="11064240" cy="960120"/>
          </a:xfrm>
          <a:prstGeom prst="roundRect">
            <a:avLst>
              <a:gd name="adj" fmla="val 7619"/>
            </a:avLst>
          </a:prstGeom>
          <a:solidFill>
            <a:srgbClr val="21295C"/>
          </a:solidFill>
          <a:ln/>
          <a:effectLst>
            <a:outerShdw blurRad="88900" dist="38100" dir="5400000" algn="bl" rotWithShape="0">
              <a:srgbClr val="000000">
                <a:alpha val="13000"/>
              </a:srgbClr>
            </a:outerShdw>
          </a:effectLst>
        </p:spPr>
        <p:txBody>
          <a:bodyPr/>
          <a:lstStyle/>
          <a:p>
            <a:endParaRPr lang="en-US"/>
          </a:p>
        </p:txBody>
      </p:sp>
      <p:sp>
        <p:nvSpPr>
          <p:cNvPr id="19" name="Text 16"/>
          <p:cNvSpPr/>
          <p:nvPr/>
        </p:nvSpPr>
        <p:spPr>
          <a:xfrm>
            <a:off x="883920" y="5586984"/>
            <a:ext cx="10424160" cy="685800"/>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cs typeface="Calibri" pitchFamily="34" charset="-120"/>
              </a:rPr>
              <a:t>Decision-level fusion beats feature concatenation. Riemannian features here earn some real weight in the ensemble. The gain is concentrated in LOSO, the cross-subject metric that matters.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WHY THE META-LEARNER'S WEIGHTS ARE NEUROSCIENCE</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rPr>
              <a:t>Decision Weighting</a:t>
            </a:r>
            <a:endParaRPr lang="en-US" sz="3000" dirty="0"/>
          </a:p>
        </p:txBody>
      </p:sp>
      <p:sp>
        <p:nvSpPr>
          <p:cNvPr id="4" name="Shape 2"/>
          <p:cNvSpPr/>
          <p:nvPr/>
        </p:nvSpPr>
        <p:spPr>
          <a:xfrm>
            <a:off x="548640" y="1463040"/>
            <a:ext cx="5943600" cy="4709160"/>
          </a:xfrm>
          <a:prstGeom prst="roundRect">
            <a:avLst>
              <a:gd name="adj" fmla="val 1975"/>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5" name="Image 0" descr="assets/compare.png"/>
          <p:cNvPicPr>
            <a:picLocks noChangeAspect="1"/>
          </p:cNvPicPr>
          <p:nvPr/>
        </p:nvPicPr>
        <p:blipFill>
          <a:blip r:embed="rId2"/>
          <a:stretch>
            <a:fillRect/>
          </a:stretch>
        </p:blipFill>
        <p:spPr>
          <a:xfrm>
            <a:off x="777240" y="2306452"/>
            <a:ext cx="5318760" cy="3022140"/>
          </a:xfrm>
          <a:prstGeom prst="rect">
            <a:avLst/>
          </a:prstGeom>
        </p:spPr>
      </p:pic>
      <p:sp>
        <p:nvSpPr>
          <p:cNvPr id="6" name="Shape 3"/>
          <p:cNvSpPr/>
          <p:nvPr/>
        </p:nvSpPr>
        <p:spPr>
          <a:xfrm>
            <a:off x="6720840" y="150876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7" name="Shape 4"/>
          <p:cNvSpPr/>
          <p:nvPr/>
        </p:nvSpPr>
        <p:spPr>
          <a:xfrm>
            <a:off x="6949440" y="1755648"/>
            <a:ext cx="256032" cy="256032"/>
          </a:xfrm>
          <a:prstGeom prst="ellipse">
            <a:avLst/>
          </a:prstGeom>
          <a:solidFill>
            <a:srgbClr val="1C7293"/>
          </a:solidFill>
          <a:ln/>
        </p:spPr>
        <p:txBody>
          <a:bodyPr/>
          <a:lstStyle/>
          <a:p>
            <a:endParaRPr lang="en-US"/>
          </a:p>
        </p:txBody>
      </p:sp>
      <p:sp>
        <p:nvSpPr>
          <p:cNvPr id="8" name="Text 5"/>
          <p:cNvSpPr/>
          <p:nvPr/>
        </p:nvSpPr>
        <p:spPr>
          <a:xfrm>
            <a:off x="7360920" y="166420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Presence  ←  ERP + gamma BP</a:t>
            </a:r>
            <a:endParaRPr lang="en-US" sz="1500" dirty="0"/>
          </a:p>
        </p:txBody>
      </p:sp>
      <p:sp>
        <p:nvSpPr>
          <p:cNvPr id="9" name="Text 6"/>
          <p:cNvSpPr/>
          <p:nvPr/>
        </p:nvSpPr>
        <p:spPr>
          <a:xfrm>
            <a:off x="7360920" y="192481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With no stim, there is no evoked potential and no induced gamma so the absence of both the is the cleanest evidence that no afferent volley reached cortex, so the two strong markers dominate.</a:t>
            </a:r>
            <a:endParaRPr lang="en-US" sz="1050" dirty="0"/>
          </a:p>
        </p:txBody>
      </p:sp>
      <p:sp>
        <p:nvSpPr>
          <p:cNvPr id="10" name="Shape 7"/>
          <p:cNvSpPr/>
          <p:nvPr/>
        </p:nvSpPr>
        <p:spPr>
          <a:xfrm>
            <a:off x="6720840" y="278892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949440" y="3035808"/>
            <a:ext cx="256032" cy="256032"/>
          </a:xfrm>
          <a:prstGeom prst="ellipse">
            <a:avLst/>
          </a:prstGeom>
          <a:solidFill>
            <a:srgbClr val="065A82"/>
          </a:solidFill>
          <a:ln/>
        </p:spPr>
        <p:txBody>
          <a:bodyPr/>
          <a:lstStyle/>
          <a:p>
            <a:endParaRPr lang="en-US"/>
          </a:p>
        </p:txBody>
      </p:sp>
      <p:sp>
        <p:nvSpPr>
          <p:cNvPr id="12" name="Text 9"/>
          <p:cNvSpPr/>
          <p:nvPr/>
        </p:nvSpPr>
        <p:spPr>
          <a:xfrm>
            <a:off x="7360920" y="294436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Max intensity  ←  induced gamma</a:t>
            </a:r>
            <a:endParaRPr lang="en-US" sz="1500" dirty="0"/>
          </a:p>
        </p:txBody>
      </p:sp>
      <p:sp>
        <p:nvSpPr>
          <p:cNvPr id="13" name="Text 10"/>
          <p:cNvSpPr/>
          <p:nvPr/>
        </p:nvSpPr>
        <p:spPr>
          <a:xfrm>
            <a:off x="7360920" y="320497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The strongest input drives the gamma response in sensorimotor cortex as per </a:t>
            </a:r>
            <a:r>
              <a:rPr lang="en-US" sz="1050" dirty="0" err="1">
                <a:solidFill>
                  <a:srgbClr val="64748B"/>
                </a:solidFill>
                <a:latin typeface="Calibri" pitchFamily="34" charset="0"/>
                <a:ea typeface="Calibri" pitchFamily="34" charset="-122"/>
                <a:cs typeface="Calibri" pitchFamily="34" charset="-120"/>
              </a:rPr>
              <a:t>Wanjoo’s</a:t>
            </a:r>
            <a:r>
              <a:rPr lang="en-US" sz="1050" dirty="0">
                <a:solidFill>
                  <a:srgbClr val="64748B"/>
                </a:solidFill>
                <a:latin typeface="Calibri" pitchFamily="34" charset="0"/>
                <a:ea typeface="Calibri" pitchFamily="34" charset="-122"/>
                <a:cs typeface="Calibri" pitchFamily="34" charset="-120"/>
              </a:rPr>
              <a:t> observations (gamma power scales with stimuli), so the spectral marker becomes the most diagnostic signal for high intensity.</a:t>
            </a:r>
            <a:endParaRPr lang="en-US" sz="1050" dirty="0"/>
          </a:p>
        </p:txBody>
      </p:sp>
      <p:sp>
        <p:nvSpPr>
          <p:cNvPr id="14" name="Shape 11"/>
          <p:cNvSpPr/>
          <p:nvPr/>
        </p:nvSpPr>
        <p:spPr>
          <a:xfrm>
            <a:off x="6720840" y="406908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5" name="Shape 12"/>
          <p:cNvSpPr/>
          <p:nvPr/>
        </p:nvSpPr>
        <p:spPr>
          <a:xfrm>
            <a:off x="6949440" y="4315968"/>
            <a:ext cx="256032" cy="256032"/>
          </a:xfrm>
          <a:prstGeom prst="ellipse">
            <a:avLst/>
          </a:prstGeom>
          <a:solidFill>
            <a:srgbClr val="B85042"/>
          </a:solidFill>
          <a:ln/>
        </p:spPr>
        <p:txBody>
          <a:bodyPr/>
          <a:lstStyle/>
          <a:p>
            <a:endParaRPr lang="en-US"/>
          </a:p>
        </p:txBody>
      </p:sp>
      <p:sp>
        <p:nvSpPr>
          <p:cNvPr id="16" name="Text 13"/>
          <p:cNvSpPr/>
          <p:nvPr/>
        </p:nvSpPr>
        <p:spPr>
          <a:xfrm>
            <a:off x="7360920" y="422452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Medium class is ambiguous</a:t>
            </a:r>
            <a:endParaRPr lang="en-US" sz="1500" dirty="0"/>
          </a:p>
        </p:txBody>
      </p:sp>
      <p:sp>
        <p:nvSpPr>
          <p:cNvPr id="17" name="Text 14"/>
          <p:cNvSpPr/>
          <p:nvPr/>
        </p:nvSpPr>
        <p:spPr>
          <a:xfrm>
            <a:off x="7360920" y="448513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For the middle class, every weight is small (&lt;=+0.62), as no marker is confident. The trace exposes the difficulty and matches where the confusion matrix concentrates.</a:t>
            </a:r>
            <a:endParaRPr lang="en-US" sz="1050" dirty="0"/>
          </a:p>
        </p:txBody>
      </p:sp>
      <p:sp>
        <p:nvSpPr>
          <p:cNvPr id="19" name="Text 16"/>
          <p:cNvSpPr/>
          <p:nvPr/>
        </p:nvSpPr>
        <p:spPr>
          <a:xfrm>
            <a:off x="868680" y="5486400"/>
            <a:ext cx="10424160" cy="685800"/>
          </a:xfrm>
          <a:prstGeom prst="rect">
            <a:avLst/>
          </a:prstGeom>
          <a:noFill/>
          <a:ln/>
        </p:spPr>
        <p:txBody>
          <a:bodyPr wrap="square" lIns="0" tIns="0" rIns="0" bIns="0" rtlCol="0" anchor="ctr"/>
          <a:lstStyle/>
          <a:p>
            <a:pPr marL="0" indent="0">
              <a:lnSpc>
                <a:spcPct val="105000"/>
              </a:lnSpc>
              <a:buNone/>
            </a:pP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A BACKTRACK</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Trace of a no-stim trial</a:t>
            </a:r>
            <a:endParaRPr lang="en-US" sz="3000" dirty="0"/>
          </a:p>
        </p:txBody>
      </p:sp>
      <p:sp>
        <p:nvSpPr>
          <p:cNvPr id="4" name="Shape 2"/>
          <p:cNvSpPr/>
          <p:nvPr/>
        </p:nvSpPr>
        <p:spPr>
          <a:xfrm>
            <a:off x="548640" y="1463040"/>
            <a:ext cx="5943600" cy="3703320"/>
          </a:xfrm>
          <a:prstGeom prst="roundRect">
            <a:avLst>
              <a:gd name="adj" fmla="val 1975"/>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5" name="Image 0" descr="assets/compare.png"/>
          <p:cNvPicPr>
            <a:picLocks noChangeAspect="1"/>
          </p:cNvPicPr>
          <p:nvPr/>
        </p:nvPicPr>
        <p:blipFill>
          <a:blip r:embed="rId2"/>
          <a:stretch>
            <a:fillRect/>
          </a:stretch>
        </p:blipFill>
        <p:spPr>
          <a:xfrm>
            <a:off x="777240" y="1783080"/>
            <a:ext cx="5205356" cy="2702052"/>
          </a:xfrm>
          <a:prstGeom prst="rect">
            <a:avLst/>
          </a:prstGeom>
        </p:spPr>
      </p:pic>
      <p:sp>
        <p:nvSpPr>
          <p:cNvPr id="6" name="Shape 3"/>
          <p:cNvSpPr/>
          <p:nvPr/>
        </p:nvSpPr>
        <p:spPr>
          <a:xfrm>
            <a:off x="6720840" y="150876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7" name="Shape 4"/>
          <p:cNvSpPr/>
          <p:nvPr/>
        </p:nvSpPr>
        <p:spPr>
          <a:xfrm>
            <a:off x="6949440" y="1755648"/>
            <a:ext cx="256032" cy="256032"/>
          </a:xfrm>
          <a:prstGeom prst="ellipse">
            <a:avLst/>
          </a:prstGeom>
          <a:solidFill>
            <a:srgbClr val="1C7293"/>
          </a:solidFill>
          <a:ln/>
        </p:spPr>
        <p:txBody>
          <a:bodyPr/>
          <a:lstStyle/>
          <a:p>
            <a:endParaRPr lang="en-US"/>
          </a:p>
        </p:txBody>
      </p:sp>
      <p:sp>
        <p:nvSpPr>
          <p:cNvPr id="8" name="Text 5"/>
          <p:cNvSpPr/>
          <p:nvPr/>
        </p:nvSpPr>
        <p:spPr>
          <a:xfrm>
            <a:off x="7360920" y="166420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End-to-end decision calculation</a:t>
            </a:r>
            <a:endParaRPr lang="en-US" sz="1500" dirty="0"/>
          </a:p>
        </p:txBody>
      </p:sp>
      <p:sp>
        <p:nvSpPr>
          <p:cNvPr id="9" name="Text 6"/>
          <p:cNvSpPr/>
          <p:nvPr/>
        </p:nvSpPr>
        <p:spPr>
          <a:xfrm>
            <a:off x="7360920" y="192481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decision = SUM (meta-weight x family vote)</a:t>
            </a:r>
          </a:p>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family vote = SUM (LDA coef x feature)</a:t>
            </a:r>
          </a:p>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feature = a named amplitude/band at a named electrode &amp; latency</a:t>
            </a:r>
            <a:endParaRPr lang="en-US" sz="1050" dirty="0"/>
          </a:p>
        </p:txBody>
      </p:sp>
      <p:sp>
        <p:nvSpPr>
          <p:cNvPr id="10" name="Shape 7"/>
          <p:cNvSpPr/>
          <p:nvPr/>
        </p:nvSpPr>
        <p:spPr>
          <a:xfrm>
            <a:off x="6720840" y="278892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949440" y="3035808"/>
            <a:ext cx="256032" cy="256032"/>
          </a:xfrm>
          <a:prstGeom prst="ellipse">
            <a:avLst/>
          </a:prstGeom>
          <a:solidFill>
            <a:srgbClr val="065A82"/>
          </a:solidFill>
          <a:ln/>
        </p:spPr>
        <p:txBody>
          <a:bodyPr/>
          <a:lstStyle/>
          <a:p>
            <a:endParaRPr lang="en-US"/>
          </a:p>
        </p:txBody>
      </p:sp>
      <p:sp>
        <p:nvSpPr>
          <p:cNvPr id="12" name="Text 9"/>
          <p:cNvSpPr/>
          <p:nvPr/>
        </p:nvSpPr>
        <p:spPr>
          <a:xfrm>
            <a:off x="7360920" y="294436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One trial  (true: no-stim)</a:t>
            </a:r>
            <a:endParaRPr lang="en-US" sz="1500" dirty="0"/>
          </a:p>
        </p:txBody>
      </p:sp>
      <p:sp>
        <p:nvSpPr>
          <p:cNvPr id="13" name="Text 10"/>
          <p:cNvSpPr/>
          <p:nvPr/>
        </p:nvSpPr>
        <p:spPr>
          <a:xfrm>
            <a:off x="7360920" y="3204972"/>
            <a:ext cx="4069080" cy="594360"/>
          </a:xfrm>
          <a:prstGeom prst="rect">
            <a:avLst/>
          </a:prstGeom>
          <a:noFill/>
          <a:ln/>
        </p:spPr>
        <p:txBody>
          <a:bodyPr wrap="square" lIns="0" tIns="0" rIns="0" bIns="0" rtlCol="0" anchor="ctr"/>
          <a:lstStyle/>
          <a:p>
            <a:pPr marL="0" indent="0">
              <a:lnSpc>
                <a:spcPct val="102000"/>
              </a:lnSpc>
              <a:buNone/>
            </a:pPr>
            <a:r>
              <a:rPr lang="en-US" sz="1050" dirty="0" err="1">
                <a:solidFill>
                  <a:srgbClr val="64748B"/>
                </a:solidFill>
                <a:latin typeface="Calibri" pitchFamily="34" charset="0"/>
                <a:ea typeface="Calibri" pitchFamily="34" charset="-122"/>
                <a:cs typeface="Calibri" pitchFamily="34" charset="-120"/>
              </a:rPr>
              <a:t>erp</a:t>
            </a:r>
            <a:r>
              <a:rPr lang="en-US" sz="1050" dirty="0">
                <a:solidFill>
                  <a:srgbClr val="64748B"/>
                </a:solidFill>
                <a:latin typeface="Calibri" pitchFamily="34" charset="0"/>
                <a:ea typeface="Calibri" pitchFamily="34" charset="-122"/>
                <a:cs typeface="Calibri" pitchFamily="34" charset="-120"/>
              </a:rPr>
              <a:t> 0.82 (no SEP) · bp 0.58 (no induced gamma) · riem 0.98 (no network engagement) but tf votes 0.58 medium (incorrectly), fooled by baseline-rhythm fluctuation, a known weakness of single-trial ERD.</a:t>
            </a:r>
            <a:endParaRPr lang="en-US" sz="1050" dirty="0"/>
          </a:p>
        </p:txBody>
      </p:sp>
      <p:sp>
        <p:nvSpPr>
          <p:cNvPr id="14" name="Shape 11"/>
          <p:cNvSpPr/>
          <p:nvPr/>
        </p:nvSpPr>
        <p:spPr>
          <a:xfrm>
            <a:off x="6720840" y="406908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5" name="Shape 12"/>
          <p:cNvSpPr/>
          <p:nvPr/>
        </p:nvSpPr>
        <p:spPr>
          <a:xfrm>
            <a:off x="6949440" y="4315968"/>
            <a:ext cx="256032" cy="256032"/>
          </a:xfrm>
          <a:prstGeom prst="ellipse">
            <a:avLst/>
          </a:prstGeom>
          <a:solidFill>
            <a:srgbClr val="B85042"/>
          </a:solidFill>
          <a:ln/>
        </p:spPr>
        <p:txBody>
          <a:bodyPr/>
          <a:lstStyle/>
          <a:p>
            <a:endParaRPr lang="en-US"/>
          </a:p>
        </p:txBody>
      </p:sp>
      <p:sp>
        <p:nvSpPr>
          <p:cNvPr id="16" name="Text 13"/>
          <p:cNvSpPr/>
          <p:nvPr/>
        </p:nvSpPr>
        <p:spPr>
          <a:xfrm>
            <a:off x="7360920" y="422452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Principled override</a:t>
            </a:r>
            <a:endParaRPr lang="en-US" sz="1500" dirty="0"/>
          </a:p>
        </p:txBody>
      </p:sp>
      <p:sp>
        <p:nvSpPr>
          <p:cNvPr id="17" name="Text 14"/>
          <p:cNvSpPr/>
          <p:nvPr/>
        </p:nvSpPr>
        <p:spPr>
          <a:xfrm>
            <a:off x="7360920" y="448513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The three independent, reliable markers carry more weight and agree; the meta-learner's low tf weight (.11) reflects its unreliability in this area. </a:t>
            </a:r>
            <a:endParaRPr lang="en-US" sz="1050" dirty="0"/>
          </a:p>
        </p:txBody>
      </p:sp>
      <p:sp>
        <p:nvSpPr>
          <p:cNvPr id="18" name="Shape 15"/>
          <p:cNvSpPr/>
          <p:nvPr/>
        </p:nvSpPr>
        <p:spPr>
          <a:xfrm>
            <a:off x="548640" y="5349240"/>
            <a:ext cx="11064240" cy="960120"/>
          </a:xfrm>
          <a:prstGeom prst="roundRect">
            <a:avLst>
              <a:gd name="adj" fmla="val 7619"/>
            </a:avLst>
          </a:prstGeom>
          <a:solidFill>
            <a:srgbClr val="21295C"/>
          </a:solidFill>
          <a:ln/>
          <a:effectLst>
            <a:outerShdw blurRad="88900" dist="38100" dir="5400000" algn="bl" rotWithShape="0">
              <a:srgbClr val="000000">
                <a:alpha val="13000"/>
              </a:srgbClr>
            </a:outerShdw>
          </a:effectLst>
        </p:spPr>
        <p:txBody>
          <a:bodyPr/>
          <a:lstStyle/>
          <a:p>
            <a:endParaRPr lang="en-US" dirty="0"/>
          </a:p>
        </p:txBody>
      </p:sp>
      <p:sp>
        <p:nvSpPr>
          <p:cNvPr id="19" name="Text 16"/>
          <p:cNvSpPr/>
          <p:nvPr/>
        </p:nvSpPr>
        <p:spPr>
          <a:xfrm>
            <a:off x="868680" y="5486400"/>
            <a:ext cx="10424160" cy="685800"/>
          </a:xfrm>
          <a:prstGeom prst="rect">
            <a:avLst/>
          </a:prstGeom>
          <a:noFill/>
          <a:ln/>
        </p:spPr>
        <p:txBody>
          <a:bodyPr wrap="square" lIns="0" tIns="0" rIns="0" bIns="0" rtlCol="0" anchor="ctr"/>
          <a:lstStyle/>
          <a:p>
            <a:pPr>
              <a:lnSpc>
                <a:spcPct val="105000"/>
              </a:lnSpc>
            </a:pPr>
            <a:r>
              <a:rPr lang="en-US" sz="1400" dirty="0" err="1">
                <a:solidFill>
                  <a:srgbClr val="FFFFFF"/>
                </a:solidFill>
                <a:latin typeface="Calibri" pitchFamily="34" charset="0"/>
                <a:cs typeface="Calibri" pitchFamily="34" charset="-120"/>
              </a:rPr>
              <a:t>tf</a:t>
            </a:r>
            <a:r>
              <a:rPr lang="en-US" sz="1400" dirty="0">
                <a:solidFill>
                  <a:srgbClr val="FFFFFF"/>
                </a:solidFill>
                <a:latin typeface="Calibri" pitchFamily="34" charset="0"/>
                <a:cs typeface="Calibri" pitchFamily="34" charset="-120"/>
              </a:rPr>
              <a:t> is fooled because ERD is defined relative to baseline, and sensorimotor rhythms dip spontaneously, so it read a random baseline wobble as a stimulus response. For this reason, the ensemble model’s multi-decisional architecture is capable of providing weight to different features for different class-trials, enhancing explainability by improving the model’s decisions in all regions by electing the most trusting candidate.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STACKING · 2-CLASS · TOLERABLE vs INTOLERABLE</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Detecting high-intensity (intolerable) stimulation</a:t>
            </a:r>
            <a:endParaRPr lang="en-US" sz="3000" dirty="0"/>
          </a:p>
        </p:txBody>
      </p:sp>
      <p:sp>
        <p:nvSpPr>
          <p:cNvPr id="4" name="Shape 2"/>
          <p:cNvSpPr/>
          <p:nvPr/>
        </p:nvSpPr>
        <p:spPr>
          <a:xfrm>
            <a:off x="548640" y="1463040"/>
            <a:ext cx="5943600" cy="3776472"/>
          </a:xfrm>
          <a:prstGeom prst="roundRect">
            <a:avLst>
              <a:gd name="adj" fmla="val 1975"/>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5" name="Image 0" descr="assets/compare.png"/>
          <p:cNvPicPr>
            <a:picLocks noChangeAspect="1"/>
          </p:cNvPicPr>
          <p:nvPr/>
        </p:nvPicPr>
        <p:blipFill>
          <a:blip r:embed="rId2"/>
          <a:stretch>
            <a:fillRect/>
          </a:stretch>
        </p:blipFill>
        <p:spPr>
          <a:xfrm>
            <a:off x="1062990" y="1755648"/>
            <a:ext cx="3822039" cy="3221974"/>
          </a:xfrm>
          <a:prstGeom prst="rect">
            <a:avLst/>
          </a:prstGeom>
        </p:spPr>
      </p:pic>
      <p:sp>
        <p:nvSpPr>
          <p:cNvPr id="6" name="Shape 3"/>
          <p:cNvSpPr/>
          <p:nvPr/>
        </p:nvSpPr>
        <p:spPr>
          <a:xfrm>
            <a:off x="6720840" y="150876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7" name="Shape 4"/>
          <p:cNvSpPr/>
          <p:nvPr/>
        </p:nvSpPr>
        <p:spPr>
          <a:xfrm>
            <a:off x="6949440" y="1755648"/>
            <a:ext cx="256032" cy="256032"/>
          </a:xfrm>
          <a:prstGeom prst="ellipse">
            <a:avLst/>
          </a:prstGeom>
          <a:solidFill>
            <a:srgbClr val="1C7293"/>
          </a:solidFill>
          <a:ln/>
        </p:spPr>
        <p:txBody>
          <a:bodyPr/>
          <a:lstStyle/>
          <a:p>
            <a:endParaRPr lang="en-US"/>
          </a:p>
        </p:txBody>
      </p:sp>
      <p:sp>
        <p:nvSpPr>
          <p:cNvPr id="8" name="Text 5"/>
          <p:cNvSpPr/>
          <p:nvPr/>
        </p:nvSpPr>
        <p:spPr>
          <a:xfrm>
            <a:off x="7360920" y="166420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The reframing</a:t>
            </a:r>
            <a:endParaRPr lang="en-US" sz="1500" dirty="0"/>
          </a:p>
        </p:txBody>
      </p:sp>
      <p:sp>
        <p:nvSpPr>
          <p:cNvPr id="9" name="Text 6"/>
          <p:cNvSpPr/>
          <p:nvPr/>
        </p:nvSpPr>
        <p:spPr>
          <a:xfrm>
            <a:off x="7360920" y="192481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Bottom three intensities merged into 'tolerable' (120) vs 'intolerable' (40). The 75/25 imbalance is handled with uniform LDA priors + a class-balanced meta-learner (Options 1 &amp; 2).</a:t>
            </a:r>
            <a:endParaRPr lang="en-US" sz="1050" dirty="0"/>
          </a:p>
        </p:txBody>
      </p:sp>
      <p:sp>
        <p:nvSpPr>
          <p:cNvPr id="10" name="Shape 7"/>
          <p:cNvSpPr/>
          <p:nvPr/>
        </p:nvSpPr>
        <p:spPr>
          <a:xfrm>
            <a:off x="6720840" y="278892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949440" y="3035808"/>
            <a:ext cx="256032" cy="256032"/>
          </a:xfrm>
          <a:prstGeom prst="ellipse">
            <a:avLst/>
          </a:prstGeom>
          <a:solidFill>
            <a:srgbClr val="065A82"/>
          </a:solidFill>
          <a:ln/>
        </p:spPr>
        <p:txBody>
          <a:bodyPr/>
          <a:lstStyle/>
          <a:p>
            <a:endParaRPr lang="en-US"/>
          </a:p>
        </p:txBody>
      </p:sp>
      <p:sp>
        <p:nvSpPr>
          <p:cNvPr id="12" name="Text 9"/>
          <p:cNvSpPr/>
          <p:nvPr/>
        </p:nvSpPr>
        <p:spPr>
          <a:xfrm>
            <a:off x="7360920" y="294436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Results</a:t>
            </a:r>
            <a:endParaRPr lang="en-US" sz="1500" dirty="0"/>
          </a:p>
        </p:txBody>
      </p:sp>
      <p:sp>
        <p:nvSpPr>
          <p:cNvPr id="13" name="Text 10"/>
          <p:cNvSpPr/>
          <p:nvPr/>
        </p:nvSpPr>
        <p:spPr>
          <a:xfrm>
            <a:off x="7360920" y="320497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LOSO 79.9% balanced · within 87.3%. ROC-AUC 0.88 / 0.94. Intolerable recall 0.80 (LOSO). The minority class is genuinely detected, not ignored (majority baseline 75%).</a:t>
            </a:r>
            <a:endParaRPr lang="en-US" sz="1050" dirty="0"/>
          </a:p>
        </p:txBody>
      </p:sp>
      <p:sp>
        <p:nvSpPr>
          <p:cNvPr id="14" name="Shape 11"/>
          <p:cNvSpPr/>
          <p:nvPr/>
        </p:nvSpPr>
        <p:spPr>
          <a:xfrm>
            <a:off x="6720840" y="406908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5" name="Shape 12"/>
          <p:cNvSpPr/>
          <p:nvPr/>
        </p:nvSpPr>
        <p:spPr>
          <a:xfrm>
            <a:off x="6949440" y="4315968"/>
            <a:ext cx="256032" cy="256032"/>
          </a:xfrm>
          <a:prstGeom prst="ellipse">
            <a:avLst/>
          </a:prstGeom>
          <a:solidFill>
            <a:srgbClr val="B85042"/>
          </a:solidFill>
          <a:ln/>
        </p:spPr>
        <p:txBody>
          <a:bodyPr/>
          <a:lstStyle/>
          <a:p>
            <a:endParaRPr lang="en-US"/>
          </a:p>
        </p:txBody>
      </p:sp>
      <p:sp>
        <p:nvSpPr>
          <p:cNvPr id="16" name="Text 13"/>
          <p:cNvSpPr/>
          <p:nvPr/>
        </p:nvSpPr>
        <p:spPr>
          <a:xfrm>
            <a:off x="7360920" y="422452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What marks intolerable</a:t>
            </a:r>
            <a:endParaRPr lang="en-US" sz="1500" dirty="0"/>
          </a:p>
        </p:txBody>
      </p:sp>
      <p:sp>
        <p:nvSpPr>
          <p:cNvPr id="17" name="Text 14"/>
          <p:cNvSpPr/>
          <p:nvPr/>
        </p:nvSpPr>
        <p:spPr>
          <a:xfrm>
            <a:off x="7360920" y="448513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Elevated fronto-central gamma-band power and a larger central evoked-potential (SEP) amplitude (both known to scale with stimulus intensity) are the top discriminators.</a:t>
            </a:r>
            <a:endParaRPr lang="en-US" sz="1050" dirty="0"/>
          </a:p>
        </p:txBody>
      </p:sp>
      <p:sp>
        <p:nvSpPr>
          <p:cNvPr id="18" name="Shape 15"/>
          <p:cNvSpPr/>
          <p:nvPr/>
        </p:nvSpPr>
        <p:spPr>
          <a:xfrm>
            <a:off x="563880" y="5449824"/>
            <a:ext cx="11064240" cy="960120"/>
          </a:xfrm>
          <a:prstGeom prst="roundRect">
            <a:avLst>
              <a:gd name="adj" fmla="val 7619"/>
            </a:avLst>
          </a:prstGeom>
          <a:solidFill>
            <a:srgbClr val="21295C"/>
          </a:solidFill>
          <a:ln/>
          <a:effectLst>
            <a:outerShdw blurRad="88900" dist="38100" dir="5400000" algn="bl" rotWithShape="0">
              <a:srgbClr val="000000">
                <a:alpha val="13000"/>
              </a:srgbClr>
            </a:outerShdw>
          </a:effectLst>
        </p:spPr>
        <p:txBody>
          <a:bodyPr/>
          <a:lstStyle/>
          <a:p>
            <a:endParaRPr lang="en-US"/>
          </a:p>
        </p:txBody>
      </p:sp>
      <p:sp>
        <p:nvSpPr>
          <p:cNvPr id="19" name="Text 16"/>
          <p:cNvSpPr/>
          <p:nvPr/>
        </p:nvSpPr>
        <p:spPr>
          <a:xfrm>
            <a:off x="883920" y="5586984"/>
            <a:ext cx="10424160" cy="685800"/>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cs typeface="Calibri" pitchFamily="34" charset="-120"/>
              </a:rPr>
              <a:t>Collapsing to tolerable vs intolerable cleanly separates high-intensity EMS (cross-subject ROC-AUC 0.88) and surfaces its neural signature — the basis for a discomfort-aware stop trigger.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X.ON DEVICE · 60 TO 7-CHANNEL REDUCTION</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7 electrodes: a deployable montage without losing fidelity</a:t>
            </a:r>
            <a:endParaRPr lang="en-US" sz="3000" dirty="0"/>
          </a:p>
        </p:txBody>
      </p:sp>
      <p:sp>
        <p:nvSpPr>
          <p:cNvPr id="4" name="Shape 2"/>
          <p:cNvSpPr/>
          <p:nvPr/>
        </p:nvSpPr>
        <p:spPr>
          <a:xfrm>
            <a:off x="548640" y="1463040"/>
            <a:ext cx="5943600" cy="3776472"/>
          </a:xfrm>
          <a:prstGeom prst="roundRect">
            <a:avLst>
              <a:gd name="adj" fmla="val 1975"/>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5" name="Image 0" descr="assets/compare.png"/>
          <p:cNvPicPr>
            <a:picLocks noChangeAspect="1"/>
          </p:cNvPicPr>
          <p:nvPr/>
        </p:nvPicPr>
        <p:blipFill>
          <a:blip r:embed="rId2"/>
          <a:stretch>
            <a:fillRect/>
          </a:stretch>
        </p:blipFill>
        <p:spPr>
          <a:xfrm>
            <a:off x="1018027" y="1924812"/>
            <a:ext cx="5004825" cy="2816352"/>
          </a:xfrm>
          <a:prstGeom prst="rect">
            <a:avLst/>
          </a:prstGeom>
        </p:spPr>
      </p:pic>
      <p:sp>
        <p:nvSpPr>
          <p:cNvPr id="6" name="Shape 3"/>
          <p:cNvSpPr/>
          <p:nvPr/>
        </p:nvSpPr>
        <p:spPr>
          <a:xfrm>
            <a:off x="6720840" y="150876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7" name="Shape 4"/>
          <p:cNvSpPr/>
          <p:nvPr/>
        </p:nvSpPr>
        <p:spPr>
          <a:xfrm>
            <a:off x="6949440" y="1755648"/>
            <a:ext cx="256032" cy="256032"/>
          </a:xfrm>
          <a:prstGeom prst="ellipse">
            <a:avLst/>
          </a:prstGeom>
          <a:solidFill>
            <a:srgbClr val="1C7293"/>
          </a:solidFill>
          <a:ln/>
        </p:spPr>
        <p:txBody>
          <a:bodyPr/>
          <a:lstStyle/>
          <a:p>
            <a:endParaRPr lang="en-US"/>
          </a:p>
        </p:txBody>
      </p:sp>
      <p:sp>
        <p:nvSpPr>
          <p:cNvPr id="8" name="Text 5"/>
          <p:cNvSpPr/>
          <p:nvPr/>
        </p:nvSpPr>
        <p:spPr>
          <a:xfrm>
            <a:off x="7360920" y="166420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The reduction</a:t>
            </a:r>
            <a:endParaRPr lang="en-US" sz="1500" dirty="0"/>
          </a:p>
        </p:txBody>
      </p:sp>
      <p:sp>
        <p:nvSpPr>
          <p:cNvPr id="9" name="Text 6"/>
          <p:cNvSpPr/>
          <p:nvPr/>
        </p:nvSpPr>
        <p:spPr>
          <a:xfrm>
            <a:off x="7360920" y="192481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60 -&gt; 7 channels (F3, F4, C3, Cz, C4, P3, P4). Feature count 3434 -&gt; 294 (12x smaller): erp 91, bp 35, tf 140, riem 28. Identical 4-family stack, every family restricted to the 7 electrodes.</a:t>
            </a:r>
            <a:endParaRPr lang="en-US" sz="1050" dirty="0"/>
          </a:p>
        </p:txBody>
      </p:sp>
      <p:sp>
        <p:nvSpPr>
          <p:cNvPr id="10" name="Shape 7"/>
          <p:cNvSpPr/>
          <p:nvPr/>
        </p:nvSpPr>
        <p:spPr>
          <a:xfrm>
            <a:off x="6720840" y="278892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949440" y="3035808"/>
            <a:ext cx="256032" cy="256032"/>
          </a:xfrm>
          <a:prstGeom prst="ellipse">
            <a:avLst/>
          </a:prstGeom>
          <a:solidFill>
            <a:srgbClr val="065A82"/>
          </a:solidFill>
          <a:ln/>
        </p:spPr>
        <p:txBody>
          <a:bodyPr/>
          <a:lstStyle/>
          <a:p>
            <a:endParaRPr lang="en-US"/>
          </a:p>
        </p:txBody>
      </p:sp>
      <p:sp>
        <p:nvSpPr>
          <p:cNvPr id="12" name="Text 9"/>
          <p:cNvSpPr/>
          <p:nvPr/>
        </p:nvSpPr>
        <p:spPr>
          <a:xfrm>
            <a:off x="7360920" y="294436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Impact on performance</a:t>
            </a:r>
            <a:endParaRPr lang="en-US" sz="1500" dirty="0"/>
          </a:p>
        </p:txBody>
      </p:sp>
      <p:sp>
        <p:nvSpPr>
          <p:cNvPr id="13" name="Text 10"/>
          <p:cNvSpPr/>
          <p:nvPr/>
        </p:nvSpPr>
        <p:spPr>
          <a:xfrm>
            <a:off x="7360920" y="320497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LOSO accuracy 64.0% (balanced 59.8%) vs the full 60-channel stack's 66.7% (balanced 63.0%). Within-subject 69.1% vs 73.0%. Only ~2-3 pts lost.</a:t>
            </a:r>
            <a:endParaRPr lang="en-US" sz="1050" dirty="0"/>
          </a:p>
        </p:txBody>
      </p:sp>
      <p:sp>
        <p:nvSpPr>
          <p:cNvPr id="14" name="Shape 11"/>
          <p:cNvSpPr/>
          <p:nvPr/>
        </p:nvSpPr>
        <p:spPr>
          <a:xfrm>
            <a:off x="6720840" y="406908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5" name="Shape 12"/>
          <p:cNvSpPr/>
          <p:nvPr/>
        </p:nvSpPr>
        <p:spPr>
          <a:xfrm>
            <a:off x="6949440" y="4315968"/>
            <a:ext cx="256032" cy="256032"/>
          </a:xfrm>
          <a:prstGeom prst="ellipse">
            <a:avLst/>
          </a:prstGeom>
          <a:solidFill>
            <a:srgbClr val="B85042"/>
          </a:solidFill>
          <a:ln/>
        </p:spPr>
        <p:txBody>
          <a:bodyPr/>
          <a:lstStyle/>
          <a:p>
            <a:endParaRPr lang="en-US"/>
          </a:p>
        </p:txBody>
      </p:sp>
      <p:sp>
        <p:nvSpPr>
          <p:cNvPr id="16" name="Text 13"/>
          <p:cNvSpPr/>
          <p:nvPr/>
        </p:nvSpPr>
        <p:spPr>
          <a:xfrm>
            <a:off x="7360920" y="422452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Still practical &amp; robust</a:t>
            </a:r>
            <a:endParaRPr lang="en-US" sz="1500" dirty="0"/>
          </a:p>
        </p:txBody>
      </p:sp>
      <p:sp>
        <p:nvSpPr>
          <p:cNvPr id="17" name="Text 14"/>
          <p:cNvSpPr/>
          <p:nvPr/>
        </p:nvSpPr>
        <p:spPr>
          <a:xfrm>
            <a:off x="7360920" y="448513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The meta-learner re-balances for 7 channels. Riem rises to 0.26 as its 28-feature covariance is now clean and low-dimensional. Same adjacent-intensity confusion; the within-subject sweep runs in ~20s.</a:t>
            </a:r>
            <a:endParaRPr lang="en-US" sz="1050" dirty="0"/>
          </a:p>
        </p:txBody>
      </p:sp>
      <p:sp>
        <p:nvSpPr>
          <p:cNvPr id="18" name="Shape 15"/>
          <p:cNvSpPr/>
          <p:nvPr/>
        </p:nvSpPr>
        <p:spPr>
          <a:xfrm>
            <a:off x="563880" y="5449824"/>
            <a:ext cx="11064240" cy="960120"/>
          </a:xfrm>
          <a:prstGeom prst="roundRect">
            <a:avLst>
              <a:gd name="adj" fmla="val 7619"/>
            </a:avLst>
          </a:prstGeom>
          <a:solidFill>
            <a:srgbClr val="21295C"/>
          </a:solidFill>
          <a:ln/>
          <a:effectLst>
            <a:outerShdw blurRad="88900" dist="38100" dir="5400000" algn="bl" rotWithShape="0">
              <a:srgbClr val="000000">
                <a:alpha val="13000"/>
              </a:srgbClr>
            </a:outerShdw>
          </a:effectLst>
        </p:spPr>
        <p:txBody>
          <a:bodyPr/>
          <a:lstStyle/>
          <a:p>
            <a:endParaRPr lang="en-US"/>
          </a:p>
        </p:txBody>
      </p:sp>
      <p:sp>
        <p:nvSpPr>
          <p:cNvPr id="19" name="Text 16"/>
          <p:cNvSpPr/>
          <p:nvPr/>
        </p:nvSpPr>
        <p:spPr>
          <a:xfrm>
            <a:off x="883920" y="5586984"/>
            <a:ext cx="10424160" cy="685800"/>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cs typeface="Calibri" pitchFamily="34" charset="-120"/>
              </a:rPr>
              <a:t>A wearable headset needs few electrodes. The X.on 7-channel montage keeps the decoding fidelity of the full cap while being far cheaper and faster to acquire.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FUNCTIONAL CONNECTIVITY · PHASE COUPLING</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Do FC/C/P regions phase-lock differently with intensity?</a:t>
            </a:r>
            <a:endParaRPr lang="en-US" sz="3000" dirty="0"/>
          </a:p>
        </p:txBody>
      </p:sp>
      <p:sp>
        <p:nvSpPr>
          <p:cNvPr id="4" name="Shape 2"/>
          <p:cNvSpPr/>
          <p:nvPr/>
        </p:nvSpPr>
        <p:spPr>
          <a:xfrm>
            <a:off x="548640" y="1463040"/>
            <a:ext cx="5943600" cy="3776472"/>
          </a:xfrm>
          <a:prstGeom prst="roundRect">
            <a:avLst>
              <a:gd name="adj" fmla="val 1975"/>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5" name="Image 0" descr="assets/compare.png"/>
          <p:cNvPicPr>
            <a:picLocks noChangeAspect="1"/>
          </p:cNvPicPr>
          <p:nvPr/>
        </p:nvPicPr>
        <p:blipFill>
          <a:blip r:embed="rId2"/>
          <a:stretch>
            <a:fillRect/>
          </a:stretch>
        </p:blipFill>
        <p:spPr>
          <a:xfrm>
            <a:off x="1173825" y="1856232"/>
            <a:ext cx="4705317" cy="2816352"/>
          </a:xfrm>
          <a:prstGeom prst="rect">
            <a:avLst/>
          </a:prstGeom>
        </p:spPr>
      </p:pic>
      <p:sp>
        <p:nvSpPr>
          <p:cNvPr id="6" name="Shape 3"/>
          <p:cNvSpPr/>
          <p:nvPr/>
        </p:nvSpPr>
        <p:spPr>
          <a:xfrm>
            <a:off x="6720840" y="150876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7" name="Shape 4"/>
          <p:cNvSpPr/>
          <p:nvPr/>
        </p:nvSpPr>
        <p:spPr>
          <a:xfrm>
            <a:off x="6949440" y="1755648"/>
            <a:ext cx="256032" cy="256032"/>
          </a:xfrm>
          <a:prstGeom prst="ellipse">
            <a:avLst/>
          </a:prstGeom>
          <a:solidFill>
            <a:srgbClr val="1C7293"/>
          </a:solidFill>
          <a:ln/>
        </p:spPr>
        <p:txBody>
          <a:bodyPr/>
          <a:lstStyle/>
          <a:p>
            <a:endParaRPr lang="en-US"/>
          </a:p>
        </p:txBody>
      </p:sp>
      <p:sp>
        <p:nvSpPr>
          <p:cNvPr id="8" name="Text 5"/>
          <p:cNvSpPr/>
          <p:nvPr/>
        </p:nvSpPr>
        <p:spPr>
          <a:xfrm>
            <a:off x="7360920" y="166420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The method</a:t>
            </a:r>
            <a:endParaRPr lang="en-US" sz="1500" dirty="0"/>
          </a:p>
        </p:txBody>
      </p:sp>
      <p:sp>
        <p:nvSpPr>
          <p:cNvPr id="9" name="Text 6"/>
          <p:cNvSpPr/>
          <p:nvPr/>
        </p:nvSpPr>
        <p:spPr>
          <a:xfrm>
            <a:off x="7360920" y="192481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Phase-locking (PLV) and volume-conduction-robust iPLV between FC / C / P regions, per band, per intensity — filter-Hilbert phase across trials, baseline-corrected, Friedman-tested over 29 subjects.</a:t>
            </a:r>
            <a:endParaRPr lang="en-US" sz="1050" dirty="0"/>
          </a:p>
        </p:txBody>
      </p:sp>
      <p:sp>
        <p:nvSpPr>
          <p:cNvPr id="10" name="Shape 7"/>
          <p:cNvSpPr/>
          <p:nvPr/>
        </p:nvSpPr>
        <p:spPr>
          <a:xfrm>
            <a:off x="6720840" y="278892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949440" y="3035808"/>
            <a:ext cx="256032" cy="256032"/>
          </a:xfrm>
          <a:prstGeom prst="ellipse">
            <a:avLst/>
          </a:prstGeom>
          <a:solidFill>
            <a:srgbClr val="065A82"/>
          </a:solidFill>
          <a:ln/>
        </p:spPr>
        <p:txBody>
          <a:bodyPr/>
          <a:lstStyle/>
          <a:p>
            <a:endParaRPr lang="en-US"/>
          </a:p>
        </p:txBody>
      </p:sp>
      <p:sp>
        <p:nvSpPr>
          <p:cNvPr id="12" name="Text 9"/>
          <p:cNvSpPr/>
          <p:nvPr/>
        </p:nvSpPr>
        <p:spPr>
          <a:xfrm>
            <a:off x="7360920" y="294436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The finding</a:t>
            </a:r>
            <a:endParaRPr lang="en-US" sz="1500" dirty="0"/>
          </a:p>
        </p:txBody>
      </p:sp>
      <p:sp>
        <p:nvSpPr>
          <p:cNvPr id="13" name="Text 10"/>
          <p:cNvSpPr/>
          <p:nvPr/>
        </p:nvSpPr>
        <p:spPr>
          <a:xfrm>
            <a:off x="7360920" y="320497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Low-frequency (delta/theta/alpha) inter-region coupling RISES dose-dependently with intensity (delta FC-C: +0.028 -&gt; +0.064 -&gt; +0.099); gamma coupling FALLS. Significant at p~0, robust to volume conduction.</a:t>
            </a:r>
            <a:endParaRPr lang="en-US" sz="1050" dirty="0"/>
          </a:p>
        </p:txBody>
      </p:sp>
      <p:sp>
        <p:nvSpPr>
          <p:cNvPr id="14" name="Shape 11"/>
          <p:cNvSpPr/>
          <p:nvPr/>
        </p:nvSpPr>
        <p:spPr>
          <a:xfrm>
            <a:off x="6720840" y="406908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5" name="Shape 12"/>
          <p:cNvSpPr/>
          <p:nvPr/>
        </p:nvSpPr>
        <p:spPr>
          <a:xfrm>
            <a:off x="6949440" y="4315968"/>
            <a:ext cx="256032" cy="256032"/>
          </a:xfrm>
          <a:prstGeom prst="ellipse">
            <a:avLst/>
          </a:prstGeom>
          <a:solidFill>
            <a:srgbClr val="B85042"/>
          </a:solidFill>
          <a:ln/>
        </p:spPr>
        <p:txBody>
          <a:bodyPr/>
          <a:lstStyle/>
          <a:p>
            <a:endParaRPr lang="en-US"/>
          </a:p>
        </p:txBody>
      </p:sp>
      <p:sp>
        <p:nvSpPr>
          <p:cNvPr id="16" name="Text 13"/>
          <p:cNvSpPr/>
          <p:nvPr/>
        </p:nvSpPr>
        <p:spPr>
          <a:xfrm>
            <a:off x="7360920" y="422452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Why it matters</a:t>
            </a:r>
            <a:endParaRPr lang="en-US" sz="1500" dirty="0"/>
          </a:p>
        </p:txBody>
      </p:sp>
      <p:sp>
        <p:nvSpPr>
          <p:cNvPr id="17" name="Text 14"/>
          <p:cNvSpPr/>
          <p:nvPr/>
        </p:nvSpPr>
        <p:spPr>
          <a:xfrm>
            <a:off x="7360920" y="448513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Stronger EMS drives widespread low-frequency phase synchronization across the sensory network — an interpretable, physiologically-named measure of network engagement (vs opaque Riemannian covariance).</a:t>
            </a:r>
            <a:endParaRPr lang="en-US" sz="1050" dirty="0"/>
          </a:p>
        </p:txBody>
      </p:sp>
      <p:sp>
        <p:nvSpPr>
          <p:cNvPr id="18" name="Shape 15"/>
          <p:cNvSpPr/>
          <p:nvPr/>
        </p:nvSpPr>
        <p:spPr>
          <a:xfrm>
            <a:off x="563880" y="5449824"/>
            <a:ext cx="11064240" cy="960120"/>
          </a:xfrm>
          <a:prstGeom prst="roundRect">
            <a:avLst>
              <a:gd name="adj" fmla="val 7619"/>
            </a:avLst>
          </a:prstGeom>
          <a:solidFill>
            <a:srgbClr val="21295C"/>
          </a:solidFill>
          <a:ln/>
          <a:effectLst>
            <a:outerShdw blurRad="88900" dist="38100" dir="5400000" algn="bl" rotWithShape="0">
              <a:srgbClr val="000000">
                <a:alpha val="13000"/>
              </a:srgbClr>
            </a:outerShdw>
          </a:effectLst>
        </p:spPr>
        <p:txBody>
          <a:bodyPr/>
          <a:lstStyle/>
          <a:p>
            <a:endParaRPr lang="en-US"/>
          </a:p>
        </p:txBody>
      </p:sp>
      <p:sp>
        <p:nvSpPr>
          <p:cNvPr id="19" name="Text 16"/>
          <p:cNvSpPr/>
          <p:nvPr/>
        </p:nvSpPr>
        <p:spPr>
          <a:xfrm>
            <a:off x="883920" y="5586984"/>
            <a:ext cx="10424160" cy="685800"/>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cs typeface="Calibri" pitchFamily="34" charset="-120"/>
              </a:rPr>
              <a:t>This becomes the per-trial 'conn' feature family: region-pair PLV/iPLV per band = 60 interpretable features (vs Riemannian's 1830).</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FINAL MODEL · 5-FAMILY STACK</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Adding phase connectivity to the ensemble, the best decoder</a:t>
            </a:r>
            <a:endParaRPr lang="en-US" sz="3000" dirty="0"/>
          </a:p>
        </p:txBody>
      </p:sp>
      <p:sp>
        <p:nvSpPr>
          <p:cNvPr id="4" name="Shape 2"/>
          <p:cNvSpPr/>
          <p:nvPr/>
        </p:nvSpPr>
        <p:spPr>
          <a:xfrm>
            <a:off x="548640" y="1463040"/>
            <a:ext cx="5943600" cy="3776472"/>
          </a:xfrm>
          <a:prstGeom prst="roundRect">
            <a:avLst>
              <a:gd name="adj" fmla="val 1975"/>
            </a:avLst>
          </a:prstGeom>
          <a:solidFill>
            <a:srgbClr val="FFFFFF"/>
          </a:solidFill>
          <a:ln/>
          <a:effectLst>
            <a:outerShdw blurRad="88900" dist="38100" dir="5400000" algn="bl" rotWithShape="0">
              <a:srgbClr val="000000">
                <a:alpha val="13000"/>
              </a:srgbClr>
            </a:outerShdw>
          </a:effectLst>
        </p:spPr>
        <p:txBody>
          <a:bodyPr/>
          <a:lstStyle/>
          <a:p>
            <a:endParaRPr lang="en-US"/>
          </a:p>
        </p:txBody>
      </p:sp>
      <p:pic>
        <p:nvPicPr>
          <p:cNvPr id="5" name="Image 0" descr="assets/compare.png"/>
          <p:cNvPicPr>
            <a:picLocks noChangeAspect="1"/>
          </p:cNvPicPr>
          <p:nvPr/>
        </p:nvPicPr>
        <p:blipFill>
          <a:blip r:embed="rId2"/>
          <a:stretch>
            <a:fillRect/>
          </a:stretch>
        </p:blipFill>
        <p:spPr>
          <a:xfrm>
            <a:off x="662247" y="1986534"/>
            <a:ext cx="4978333" cy="2729484"/>
          </a:xfrm>
          <a:prstGeom prst="rect">
            <a:avLst/>
          </a:prstGeom>
        </p:spPr>
      </p:pic>
      <p:sp>
        <p:nvSpPr>
          <p:cNvPr id="6" name="Shape 3"/>
          <p:cNvSpPr/>
          <p:nvPr/>
        </p:nvSpPr>
        <p:spPr>
          <a:xfrm>
            <a:off x="6720840" y="150876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7" name="Shape 4"/>
          <p:cNvSpPr/>
          <p:nvPr/>
        </p:nvSpPr>
        <p:spPr>
          <a:xfrm>
            <a:off x="6949440" y="1755648"/>
            <a:ext cx="256032" cy="256032"/>
          </a:xfrm>
          <a:prstGeom prst="ellipse">
            <a:avLst/>
          </a:prstGeom>
          <a:solidFill>
            <a:srgbClr val="1C7293"/>
          </a:solidFill>
          <a:ln/>
        </p:spPr>
        <p:txBody>
          <a:bodyPr/>
          <a:lstStyle/>
          <a:p>
            <a:endParaRPr lang="en-US"/>
          </a:p>
        </p:txBody>
      </p:sp>
      <p:sp>
        <p:nvSpPr>
          <p:cNvPr id="8" name="Text 5"/>
          <p:cNvSpPr/>
          <p:nvPr/>
        </p:nvSpPr>
        <p:spPr>
          <a:xfrm>
            <a:off x="7360920" y="166420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The model</a:t>
            </a:r>
            <a:endParaRPr lang="en-US" sz="1500" dirty="0"/>
          </a:p>
        </p:txBody>
      </p:sp>
      <p:sp>
        <p:nvSpPr>
          <p:cNvPr id="9" name="Text 6"/>
          <p:cNvSpPr/>
          <p:nvPr/>
        </p:nvSpPr>
        <p:spPr>
          <a:xfrm>
            <a:off x="7360920" y="192481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Five per-family LDAs fused by the meta-learner: ERP, band-power, ERD/ERS, Riemannian covariance, and phase connectivity (conn). Same leakage-safe LOSO protocol, all 60 channels.</a:t>
            </a:r>
            <a:endParaRPr lang="en-US" sz="1050" dirty="0"/>
          </a:p>
        </p:txBody>
      </p:sp>
      <p:sp>
        <p:nvSpPr>
          <p:cNvPr id="10" name="Shape 7"/>
          <p:cNvSpPr/>
          <p:nvPr/>
        </p:nvSpPr>
        <p:spPr>
          <a:xfrm>
            <a:off x="6720840" y="278892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1" name="Shape 8"/>
          <p:cNvSpPr/>
          <p:nvPr/>
        </p:nvSpPr>
        <p:spPr>
          <a:xfrm>
            <a:off x="6949440" y="3035808"/>
            <a:ext cx="256032" cy="256032"/>
          </a:xfrm>
          <a:prstGeom prst="ellipse">
            <a:avLst/>
          </a:prstGeom>
          <a:solidFill>
            <a:srgbClr val="065A82"/>
          </a:solidFill>
          <a:ln/>
        </p:spPr>
        <p:txBody>
          <a:bodyPr/>
          <a:lstStyle/>
          <a:p>
            <a:endParaRPr lang="en-US"/>
          </a:p>
        </p:txBody>
      </p:sp>
      <p:sp>
        <p:nvSpPr>
          <p:cNvPr id="12" name="Text 9"/>
          <p:cNvSpPr/>
          <p:nvPr/>
        </p:nvSpPr>
        <p:spPr>
          <a:xfrm>
            <a:off x="7360920" y="294436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Results</a:t>
            </a:r>
            <a:endParaRPr lang="en-US" sz="1500" dirty="0"/>
          </a:p>
        </p:txBody>
      </p:sp>
      <p:sp>
        <p:nvSpPr>
          <p:cNvPr id="13" name="Text 10"/>
          <p:cNvSpPr/>
          <p:nvPr/>
        </p:nvSpPr>
        <p:spPr>
          <a:xfrm>
            <a:off x="7360920" y="320497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LOSO 68.1% / 64.8% balanced — the project's best. +1.8 balanced over the 4-family stacks, and ~+5 over the erp+bp baseline (chance 33%).</a:t>
            </a:r>
            <a:endParaRPr lang="en-US" sz="1050" dirty="0"/>
          </a:p>
        </p:txBody>
      </p:sp>
      <p:sp>
        <p:nvSpPr>
          <p:cNvPr id="14" name="Shape 11"/>
          <p:cNvSpPr/>
          <p:nvPr/>
        </p:nvSpPr>
        <p:spPr>
          <a:xfrm>
            <a:off x="6720840" y="4069080"/>
            <a:ext cx="4892040" cy="1170432"/>
          </a:xfrm>
          <a:prstGeom prst="roundRect">
            <a:avLst>
              <a:gd name="adj" fmla="val 6250"/>
            </a:avLst>
          </a:prstGeom>
          <a:solidFill>
            <a:srgbClr val="FFFFFF"/>
          </a:solidFill>
          <a:ln/>
          <a:effectLst>
            <a:outerShdw blurRad="88900" dist="38100" dir="5400000" algn="bl" rotWithShape="0">
              <a:srgbClr val="000000">
                <a:alpha val="13000"/>
              </a:srgbClr>
            </a:outerShdw>
          </a:effectLst>
        </p:spPr>
        <p:txBody>
          <a:bodyPr/>
          <a:lstStyle/>
          <a:p>
            <a:endParaRPr lang="en-US"/>
          </a:p>
        </p:txBody>
      </p:sp>
      <p:sp>
        <p:nvSpPr>
          <p:cNvPr id="15" name="Shape 12"/>
          <p:cNvSpPr/>
          <p:nvPr/>
        </p:nvSpPr>
        <p:spPr>
          <a:xfrm>
            <a:off x="6949440" y="4315968"/>
            <a:ext cx="256032" cy="256032"/>
          </a:xfrm>
          <a:prstGeom prst="ellipse">
            <a:avLst/>
          </a:prstGeom>
          <a:solidFill>
            <a:srgbClr val="B85042"/>
          </a:solidFill>
          <a:ln/>
        </p:spPr>
        <p:txBody>
          <a:bodyPr/>
          <a:lstStyle/>
          <a:p>
            <a:endParaRPr lang="en-US"/>
          </a:p>
        </p:txBody>
      </p:sp>
      <p:sp>
        <p:nvSpPr>
          <p:cNvPr id="16" name="Text 13"/>
          <p:cNvSpPr/>
          <p:nvPr/>
        </p:nvSpPr>
        <p:spPr>
          <a:xfrm>
            <a:off x="7360920" y="4224528"/>
            <a:ext cx="411480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Why 5 helps</a:t>
            </a:r>
            <a:endParaRPr lang="en-US" sz="1500" dirty="0"/>
          </a:p>
        </p:txBody>
      </p:sp>
      <p:sp>
        <p:nvSpPr>
          <p:cNvPr id="17" name="Text 14"/>
          <p:cNvSpPr/>
          <p:nvPr/>
        </p:nvSpPr>
        <p:spPr>
          <a:xfrm>
            <a:off x="7360920" y="4485132"/>
            <a:ext cx="4069080" cy="594360"/>
          </a:xfrm>
          <a:prstGeom prst="rect">
            <a:avLst/>
          </a:prstGeom>
          <a:noFill/>
          <a:ln/>
        </p:spPr>
        <p:txBody>
          <a:bodyPr wrap="square" lIns="0" tIns="0" rIns="0" bIns="0" rtlCol="0" anchor="ctr"/>
          <a:lstStyle/>
          <a:p>
            <a:pPr marL="0" indent="0">
              <a:lnSpc>
                <a:spcPct val="102000"/>
              </a:lnSpc>
              <a:buNone/>
            </a:pPr>
            <a:r>
              <a:rPr lang="en-US" sz="1050" dirty="0">
                <a:solidFill>
                  <a:srgbClr val="64748B"/>
                </a:solidFill>
                <a:latin typeface="Calibri" pitchFamily="34" charset="0"/>
                <a:ea typeface="Calibri" pitchFamily="34" charset="-122"/>
                <a:cs typeface="Calibri" pitchFamily="34" charset="-120"/>
              </a:rPr>
              <a:t>Connectivity and Riemannian are complementary, not redundant — the meta-learner keeps BOTH (conn 0.25, riem 0.14). Phase-locking and covariance capture partly different spatial structure.</a:t>
            </a:r>
            <a:endParaRPr lang="en-US" sz="1050" dirty="0"/>
          </a:p>
        </p:txBody>
      </p:sp>
      <p:sp>
        <p:nvSpPr>
          <p:cNvPr id="18" name="Shape 15"/>
          <p:cNvSpPr/>
          <p:nvPr/>
        </p:nvSpPr>
        <p:spPr>
          <a:xfrm>
            <a:off x="563880" y="5449824"/>
            <a:ext cx="11064240" cy="960120"/>
          </a:xfrm>
          <a:prstGeom prst="roundRect">
            <a:avLst>
              <a:gd name="adj" fmla="val 7619"/>
            </a:avLst>
          </a:prstGeom>
          <a:solidFill>
            <a:srgbClr val="21295C"/>
          </a:solidFill>
          <a:ln/>
          <a:effectLst>
            <a:outerShdw blurRad="88900" dist="38100" dir="5400000" algn="bl" rotWithShape="0">
              <a:srgbClr val="000000">
                <a:alpha val="13000"/>
              </a:srgbClr>
            </a:outerShdw>
          </a:effectLst>
        </p:spPr>
        <p:txBody>
          <a:bodyPr/>
          <a:lstStyle/>
          <a:p>
            <a:endParaRPr lang="en-US"/>
          </a:p>
        </p:txBody>
      </p:sp>
      <p:sp>
        <p:nvSpPr>
          <p:cNvPr id="19" name="Text 16"/>
          <p:cNvSpPr/>
          <p:nvPr/>
        </p:nvSpPr>
        <p:spPr>
          <a:xfrm>
            <a:off x="883920" y="5586984"/>
            <a:ext cx="10424160" cy="685800"/>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cs typeface="Calibri" pitchFamily="34" charset="-120"/>
              </a:rPr>
              <a:t>The connectivity work yields a marginal but real gain — the 5-family stack is the new best model. conn alone also matches riem using 30x fewer, interpretable features.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179</TotalTime>
  <Words>2490</Words>
  <Application>Microsoft Macintosh PowerPoint</Application>
  <PresentationFormat>Widescreen</PresentationFormat>
  <Paragraphs>290</Paragraphs>
  <Slides>20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EMS EEG Decoding — LDA vs EEGNet</dc:title>
  <dc:subject>PptxGenJS Presentation</dc:subject>
  <dc:creator>Adam Kablawi</dc:creator>
  <cp:lastModifiedBy>Adam Said Kablawi</cp:lastModifiedBy>
  <cp:revision>28</cp:revision>
  <dcterms:created xsi:type="dcterms:W3CDTF">2026-06-21T16:36:13Z</dcterms:created>
  <dcterms:modified xsi:type="dcterms:W3CDTF">2026-07-10T05:08:00Z</dcterms:modified>
</cp:coreProperties>
</file>